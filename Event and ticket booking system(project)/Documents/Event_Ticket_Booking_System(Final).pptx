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79" r:id="rId3"/>
    <p:sldId id="280" r:id="rId4"/>
    <p:sldId id="271" r:id="rId5"/>
    <p:sldId id="281" r:id="rId6"/>
    <p:sldId id="257" r:id="rId7"/>
    <p:sldId id="282" r:id="rId8"/>
    <p:sldId id="262" r:id="rId9"/>
    <p:sldId id="283" r:id="rId10"/>
    <p:sldId id="284" r:id="rId11"/>
    <p:sldId id="285" r:id="rId12"/>
    <p:sldId id="261" r:id="rId13"/>
    <p:sldId id="260" r:id="rId14"/>
    <p:sldId id="286" r:id="rId15"/>
    <p:sldId id="287" r:id="rId16"/>
    <p:sldId id="290" r:id="rId17"/>
    <p:sldId id="276" r:id="rId18"/>
    <p:sldId id="288" r:id="rId19"/>
    <p:sldId id="278" r:id="rId20"/>
    <p:sldId id="269" r:id="rId21"/>
    <p:sldId id="289" r:id="rId22"/>
    <p:sldId id="25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9E34"/>
    <a:srgbClr val="23AAAD"/>
    <a:srgbClr val="1B134C"/>
    <a:srgbClr val="5B30F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447" autoAdjust="0"/>
  </p:normalViewPr>
  <p:slideViewPr>
    <p:cSldViewPr snapToGrid="0">
      <p:cViewPr varScale="1">
        <p:scale>
          <a:sx n="59" d="100"/>
          <a:sy n="59" d="100"/>
        </p:scale>
        <p:origin x="9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8DE5F0-F600-46C3-AE4D-5148C69FFBAD}" type="datetimeFigureOut">
              <a:rPr lang="en-US" smtClean="0"/>
              <a:t>9/11/2025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0EF6FF-9132-45E0-97B0-6601D5F6581F}" type="slidenum">
              <a:rPr lang="en-US" smtClean="0"/>
              <a:t>‹#›</a:t>
            </a:fld>
            <a:endParaRPr lang="en-US"/>
          </a:p>
        </p:txBody>
      </p:sp>
    </p:spTree>
    <p:extLst>
      <p:ext uri="{BB962C8B-B14F-4D97-AF65-F5344CB8AC3E}">
        <p14:creationId xmlns:p14="http://schemas.microsoft.com/office/powerpoint/2010/main" val="794207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9DE9B-9A6B-E56B-3A2E-48544F06BD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B8E850-7BF3-F953-0587-699BF69EE6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31E806-44D7-F165-8A01-EBB92CDA88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782158-080C-8795-393F-0DC573462855}"/>
              </a:ext>
            </a:extLst>
          </p:cNvPr>
          <p:cNvSpPr>
            <a:spLocks noGrp="1"/>
          </p:cNvSpPr>
          <p:nvPr>
            <p:ph type="sldNum" sz="quarter" idx="5"/>
          </p:nvPr>
        </p:nvSpPr>
        <p:spPr/>
        <p:txBody>
          <a:bodyPr/>
          <a:lstStyle/>
          <a:p>
            <a:fld id="{410EF6FF-9132-45E0-97B0-6601D5F6581F}" type="slidenum">
              <a:rPr lang="en-US" smtClean="0"/>
              <a:t>12</a:t>
            </a:fld>
            <a:endParaRPr lang="en-US"/>
          </a:p>
        </p:txBody>
      </p:sp>
    </p:spTree>
    <p:extLst>
      <p:ext uri="{BB962C8B-B14F-4D97-AF65-F5344CB8AC3E}">
        <p14:creationId xmlns:p14="http://schemas.microsoft.com/office/powerpoint/2010/main" val="3630079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0EF6FF-9132-45E0-97B0-6601D5F6581F}" type="slidenum">
              <a:rPr lang="en-US" smtClean="0"/>
              <a:t>13</a:t>
            </a:fld>
            <a:endParaRPr lang="en-US"/>
          </a:p>
        </p:txBody>
      </p:sp>
    </p:spTree>
    <p:extLst>
      <p:ext uri="{BB962C8B-B14F-4D97-AF65-F5344CB8AC3E}">
        <p14:creationId xmlns:p14="http://schemas.microsoft.com/office/powerpoint/2010/main" val="1620486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DE9D4-CBBD-39CF-AB04-BF492945BE6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C9F787-A6F0-B4AA-E084-B6E6A2965A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F597AC2-B99D-4E92-643D-E755FB13459C}"/>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5" name="Footer Placeholder 4">
            <a:extLst>
              <a:ext uri="{FF2B5EF4-FFF2-40B4-BE49-F238E27FC236}">
                <a16:creationId xmlns:a16="http://schemas.microsoft.com/office/drawing/2014/main" id="{50E3E8F1-0B97-8411-9791-E2816322DD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EAFF63-8290-6775-8277-205603A4EB61}"/>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265183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1706E-CA7F-38DC-3ABC-4F852DF7F7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62F1B5-7512-79D3-6D27-ACE3DE8EBA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CBC36-52A8-E007-5F87-D62CEE285475}"/>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5" name="Footer Placeholder 4">
            <a:extLst>
              <a:ext uri="{FF2B5EF4-FFF2-40B4-BE49-F238E27FC236}">
                <a16:creationId xmlns:a16="http://schemas.microsoft.com/office/drawing/2014/main" id="{0843E764-0E8F-32F3-959D-0F804A37A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9B5893-D3ED-A111-1DE0-119AD82E1D7D}"/>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706830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14975-5492-925A-B15F-E8CC6C3014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45FB7A-94FF-7667-A5AE-CDBA3EED9B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6378E6-0E53-3566-5185-3282A7ACF43B}"/>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5" name="Footer Placeholder 4">
            <a:extLst>
              <a:ext uri="{FF2B5EF4-FFF2-40B4-BE49-F238E27FC236}">
                <a16:creationId xmlns:a16="http://schemas.microsoft.com/office/drawing/2014/main" id="{EC894B46-3170-CA59-EB06-0A7AC393A3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0B8DCD-0235-FAC9-2827-6C5C8B105C5F}"/>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4107641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B336E-6F64-9716-79F6-09C1859BCF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38254C-3BFA-9701-AC0A-69FFD312B9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13CF7D-60F3-4DD1-50E0-47BBB8577C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A75E01B-DD97-C969-E069-6D67223589FF}"/>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6" name="Footer Placeholder 5">
            <a:extLst>
              <a:ext uri="{FF2B5EF4-FFF2-40B4-BE49-F238E27FC236}">
                <a16:creationId xmlns:a16="http://schemas.microsoft.com/office/drawing/2014/main" id="{6095A4BF-086F-98BB-F707-75DF6DF49F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03B833-D94C-1AC9-CFFD-831D8DA12EED}"/>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3166536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19E33-AED8-B87B-9CC4-4BAB91FC33C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B38AB0-C97E-6DAB-D4F9-4E6E880A75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0FB543-54DF-5442-98C7-915747DAA1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C64A0E-6894-69A9-F1E4-675924EDF4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49B4D7-7FE4-E06D-00C8-F9CB7BAB3D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2CC1D51-1765-5933-46E9-9583E41C6F79}"/>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8" name="Footer Placeholder 7">
            <a:extLst>
              <a:ext uri="{FF2B5EF4-FFF2-40B4-BE49-F238E27FC236}">
                <a16:creationId xmlns:a16="http://schemas.microsoft.com/office/drawing/2014/main" id="{99E0BF8D-CC19-4D88-8268-D162B908A28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7C37E9-D6FF-6D2E-CCCD-69876A090DC2}"/>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3131694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FB4E4-AD40-0BBB-5B83-B34C871681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43383E0-E3BA-487A-F1CE-35C3E7036B59}"/>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4" name="Footer Placeholder 3">
            <a:extLst>
              <a:ext uri="{FF2B5EF4-FFF2-40B4-BE49-F238E27FC236}">
                <a16:creationId xmlns:a16="http://schemas.microsoft.com/office/drawing/2014/main" id="{A3A2B5EC-367A-A661-0FF1-BABCDF90D2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D9373EB-8547-A75B-B63A-8D83DF86A079}"/>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3125008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25240F-9D6E-5E5B-5739-A764AAD3F773}"/>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3" name="Footer Placeholder 2">
            <a:extLst>
              <a:ext uri="{FF2B5EF4-FFF2-40B4-BE49-F238E27FC236}">
                <a16:creationId xmlns:a16="http://schemas.microsoft.com/office/drawing/2014/main" id="{1B15E38A-2B47-3BE4-FDBB-F1DA85C4CF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273BECA-2872-CB7C-70B9-C193C728128F}"/>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095997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55EF-3FB5-CEEA-B5B9-DF825D069B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53C253-96E3-ADD3-298D-DC078E1CFA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379389-2AC9-39C4-5C51-4372015E3A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7FBA9-D34A-DF22-4030-7CC81ACCF968}"/>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6" name="Footer Placeholder 5">
            <a:extLst>
              <a:ext uri="{FF2B5EF4-FFF2-40B4-BE49-F238E27FC236}">
                <a16:creationId xmlns:a16="http://schemas.microsoft.com/office/drawing/2014/main" id="{5572565A-DCE6-BEB8-C0B4-AB737C219B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68F334-691D-4D47-5697-B841F7F0083C}"/>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1119004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AB2BD-9587-900E-7B78-C09E1220AF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94C592-D295-8F91-555F-5104C216DE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200948D-CF7C-759D-183B-4A97A197F4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E657F6-AD68-A51D-F55B-E1258283EEAF}"/>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6" name="Footer Placeholder 5">
            <a:extLst>
              <a:ext uri="{FF2B5EF4-FFF2-40B4-BE49-F238E27FC236}">
                <a16:creationId xmlns:a16="http://schemas.microsoft.com/office/drawing/2014/main" id="{875BE1E4-7D6D-F6F3-7A20-AD503FA275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A550FD-9475-C54F-A97D-75D4461306DA}"/>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548440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6DE25-DCBC-D358-9606-1AFAC0C1AA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E9CA90-1A03-8F33-D4D4-698AE6B2B1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136D4-D9FF-3984-32C8-E310533CA01C}"/>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5" name="Footer Placeholder 4">
            <a:extLst>
              <a:ext uri="{FF2B5EF4-FFF2-40B4-BE49-F238E27FC236}">
                <a16:creationId xmlns:a16="http://schemas.microsoft.com/office/drawing/2014/main" id="{8EB007F2-5888-0388-EEC2-737DB1C45F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1E26C5-0E2E-A976-A6BA-B4D7B6726757}"/>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3097459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E24D53-CB44-64E5-F537-B0AC6B350F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E269E02-5B4E-B2E2-BF0E-FFAB403EC1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EF28F0-7539-0FB2-62D6-933FEFE284A5}"/>
              </a:ext>
            </a:extLst>
          </p:cNvPr>
          <p:cNvSpPr>
            <a:spLocks noGrp="1"/>
          </p:cNvSpPr>
          <p:nvPr>
            <p:ph type="dt" sz="half" idx="10"/>
          </p:nvPr>
        </p:nvSpPr>
        <p:spPr/>
        <p:txBody>
          <a:bodyPr/>
          <a:lstStyle/>
          <a:p>
            <a:fld id="{8CFBE4D0-E68C-4FB2-8B3A-AA41DAF039F9}" type="datetimeFigureOut">
              <a:rPr lang="en-US" smtClean="0"/>
              <a:t>9/11/2025</a:t>
            </a:fld>
            <a:endParaRPr lang="en-US"/>
          </a:p>
        </p:txBody>
      </p:sp>
      <p:sp>
        <p:nvSpPr>
          <p:cNvPr id="5" name="Footer Placeholder 4">
            <a:extLst>
              <a:ext uri="{FF2B5EF4-FFF2-40B4-BE49-F238E27FC236}">
                <a16:creationId xmlns:a16="http://schemas.microsoft.com/office/drawing/2014/main" id="{A3A0D598-96DB-8BDF-7A86-05A1D81CF0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EC07A8-426C-583A-2AB9-069E9B29C80B}"/>
              </a:ext>
            </a:extLst>
          </p:cNvPr>
          <p:cNvSpPr>
            <a:spLocks noGrp="1"/>
          </p:cNvSpPr>
          <p:nvPr>
            <p:ph type="sldNum" sz="quarter" idx="12"/>
          </p:nvPr>
        </p:nvSpPr>
        <p:spPr/>
        <p:txBody>
          <a:bodyPr/>
          <a:lstStyle/>
          <a:p>
            <a:fld id="{FA2F9677-0272-47B3-8877-9BCDB58A6C4D}" type="slidenum">
              <a:rPr lang="en-US" smtClean="0"/>
              <a:t>‹#›</a:t>
            </a:fld>
            <a:endParaRPr lang="en-US"/>
          </a:p>
        </p:txBody>
      </p:sp>
    </p:spTree>
    <p:extLst>
      <p:ext uri="{BB962C8B-B14F-4D97-AF65-F5344CB8AC3E}">
        <p14:creationId xmlns:p14="http://schemas.microsoft.com/office/powerpoint/2010/main" val="2750939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1">
                <a:lumMod val="5000"/>
                <a:lumOff val="95000"/>
              </a:schemeClr>
            </a:gs>
            <a:gs pos="100000">
              <a:srgbClr val="D1DCF0">
                <a:lumMod val="5000"/>
                <a:lumOff val="95000"/>
              </a:srgbClr>
            </a:gs>
            <a:gs pos="100000">
              <a:schemeClr val="accent1">
                <a:lumMod val="45000"/>
                <a:lumOff val="55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FA0F04-FAD4-97D9-A6C1-4A94253481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34B0C2-37FD-4F81-D9FA-1A82879BFC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CB38CD-676D-868D-91EF-E89C850F79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CFBE4D0-E68C-4FB2-8B3A-AA41DAF039F9}" type="datetimeFigureOut">
              <a:rPr lang="en-US" smtClean="0"/>
              <a:t>9/11/2025</a:t>
            </a:fld>
            <a:endParaRPr lang="en-US"/>
          </a:p>
        </p:txBody>
      </p:sp>
      <p:sp>
        <p:nvSpPr>
          <p:cNvPr id="5" name="Footer Placeholder 4">
            <a:extLst>
              <a:ext uri="{FF2B5EF4-FFF2-40B4-BE49-F238E27FC236}">
                <a16:creationId xmlns:a16="http://schemas.microsoft.com/office/drawing/2014/main" id="{AA571AA0-E6E0-8ED1-29A0-12D5FC02F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C99B170-770F-E884-8E03-34B29117A0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2F9677-0272-47B3-8877-9BCDB58A6C4D}" type="slidenum">
              <a:rPr lang="en-US" smtClean="0"/>
              <a:t>‹#›</a:t>
            </a:fld>
            <a:endParaRPr lang="en-US"/>
          </a:p>
        </p:txBody>
      </p:sp>
    </p:spTree>
    <p:extLst>
      <p:ext uri="{BB962C8B-B14F-4D97-AF65-F5344CB8AC3E}">
        <p14:creationId xmlns:p14="http://schemas.microsoft.com/office/powerpoint/2010/main" val="1895986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image" Target="../media/image7.jpeg"/><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jpg"/><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C3A5304-1DD4-1448-EB8F-F50DA11AEA9F}"/>
              </a:ext>
            </a:extLst>
          </p:cNvPr>
          <p:cNvSpPr/>
          <p:nvPr/>
        </p:nvSpPr>
        <p:spPr>
          <a:xfrm>
            <a:off x="0" y="0"/>
            <a:ext cx="4216400" cy="6858000"/>
          </a:xfrm>
          <a:prstGeom prst="rect">
            <a:avLst/>
          </a:prstGeom>
          <a:solidFill>
            <a:srgbClr val="1B1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02494D9B-A64C-5821-35E0-80140852AFAD}"/>
              </a:ext>
            </a:extLst>
          </p:cNvPr>
          <p:cNvSpPr/>
          <p:nvPr/>
        </p:nvSpPr>
        <p:spPr>
          <a:xfrm>
            <a:off x="762794" y="-1"/>
            <a:ext cx="7010400" cy="685800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C2901F9-9853-73A1-D369-8A28185FC681}"/>
              </a:ext>
            </a:extLst>
          </p:cNvPr>
          <p:cNvSpPr txBox="1"/>
          <p:nvPr/>
        </p:nvSpPr>
        <p:spPr>
          <a:xfrm>
            <a:off x="7033555" y="2646090"/>
            <a:ext cx="5468257" cy="1102225"/>
          </a:xfrm>
          <a:prstGeom prst="rect">
            <a:avLst/>
          </a:prstGeom>
          <a:noFill/>
        </p:spPr>
        <p:txBody>
          <a:bodyPr wrap="square" lIns="91440" tIns="45720" rIns="91440" bIns="45720" rtlCol="0" anchor="t">
            <a:spAutoFit/>
          </a:bodyPr>
          <a:lstStyle/>
          <a:p>
            <a:pPr>
              <a:lnSpc>
                <a:spcPct val="70000"/>
              </a:lnSpc>
            </a:pPr>
            <a:r>
              <a:rPr lang="en-US" sz="4500" b="1" spc="-300" dirty="0">
                <a:solidFill>
                  <a:srgbClr val="1B134C"/>
                </a:solidFill>
                <a:latin typeface="Poppins"/>
                <a:cs typeface="Poppins"/>
              </a:rPr>
              <a:t>Event  &amp; Ticket</a:t>
            </a:r>
          </a:p>
          <a:p>
            <a:pPr>
              <a:lnSpc>
                <a:spcPct val="70000"/>
              </a:lnSpc>
            </a:pPr>
            <a:r>
              <a:rPr lang="en-US" sz="4500" b="1" spc="-300" dirty="0">
                <a:solidFill>
                  <a:srgbClr val="1B134C"/>
                </a:solidFill>
                <a:latin typeface="Poppins"/>
                <a:cs typeface="Poppins"/>
              </a:rPr>
              <a:t>Booking System</a:t>
            </a:r>
          </a:p>
        </p:txBody>
      </p:sp>
      <p:sp>
        <p:nvSpPr>
          <p:cNvPr id="16" name="TextBox 15">
            <a:extLst>
              <a:ext uri="{FF2B5EF4-FFF2-40B4-BE49-F238E27FC236}">
                <a16:creationId xmlns:a16="http://schemas.microsoft.com/office/drawing/2014/main" id="{1A1895CA-783E-4D67-0B80-4F581E510DFC}"/>
              </a:ext>
            </a:extLst>
          </p:cNvPr>
          <p:cNvSpPr txBox="1"/>
          <p:nvPr/>
        </p:nvSpPr>
        <p:spPr>
          <a:xfrm>
            <a:off x="7715482" y="4354672"/>
            <a:ext cx="4786330" cy="1155188"/>
          </a:xfrm>
          <a:prstGeom prst="rect">
            <a:avLst/>
          </a:prstGeom>
          <a:noFill/>
        </p:spPr>
        <p:txBody>
          <a:bodyPr wrap="square" rtlCol="0">
            <a:spAutoFit/>
          </a:bodyPr>
          <a:lstStyle/>
          <a:p>
            <a:pPr>
              <a:lnSpc>
                <a:spcPct val="70000"/>
              </a:lnSpc>
            </a:pPr>
            <a:r>
              <a:rPr lang="en-US" sz="3200" spc="-300" dirty="0">
                <a:solidFill>
                  <a:srgbClr val="23AAAD"/>
                </a:solidFill>
                <a:latin typeface="Poppins" panose="00000500000000000000" pitchFamily="2" charset="0"/>
                <a:cs typeface="Poppins" panose="00000500000000000000" pitchFamily="2" charset="0"/>
              </a:rPr>
              <a:t>By : Vijay Sai Nunna</a:t>
            </a:r>
            <a:br>
              <a:rPr lang="en-US" sz="3200" spc="-300" dirty="0">
                <a:solidFill>
                  <a:srgbClr val="23AAAD"/>
                </a:solidFill>
                <a:latin typeface="Poppins" panose="00000500000000000000" pitchFamily="2" charset="0"/>
                <a:cs typeface="Poppins" panose="00000500000000000000" pitchFamily="2" charset="0"/>
              </a:rPr>
            </a:br>
            <a:endParaRPr lang="en-US" sz="3200" spc="-300" dirty="0">
              <a:solidFill>
                <a:srgbClr val="23AAAD"/>
              </a:solidFill>
              <a:latin typeface="Poppins" panose="00000500000000000000" pitchFamily="2" charset="0"/>
              <a:cs typeface="Poppins" panose="00000500000000000000" pitchFamily="2" charset="0"/>
            </a:endParaRPr>
          </a:p>
          <a:p>
            <a:pPr>
              <a:lnSpc>
                <a:spcPct val="70000"/>
              </a:lnSpc>
            </a:pPr>
            <a:r>
              <a:rPr lang="en-US" sz="3200" spc="-300" dirty="0">
                <a:solidFill>
                  <a:srgbClr val="23AAAD"/>
                </a:solidFill>
                <a:latin typeface="Poppins" panose="00000500000000000000" pitchFamily="2" charset="0"/>
                <a:cs typeface="Poppins" panose="00000500000000000000" pitchFamily="2" charset="0"/>
              </a:rPr>
              <a:t>ID :  </a:t>
            </a:r>
            <a:r>
              <a:rPr lang="en-IN" sz="3200" spc="-300" dirty="0">
                <a:solidFill>
                  <a:srgbClr val="23AAAD"/>
                </a:solidFill>
                <a:latin typeface="Poppins" panose="00000500000000000000" pitchFamily="2" charset="0"/>
                <a:cs typeface="Poppins" panose="00000500000000000000" pitchFamily="2" charset="0"/>
              </a:rPr>
              <a:t>ZPVN-10116</a:t>
            </a:r>
            <a:endParaRPr lang="en-US" sz="3200" spc="-300" dirty="0">
              <a:solidFill>
                <a:srgbClr val="23AAAD"/>
              </a:solidFill>
              <a:latin typeface="Poppins" panose="00000500000000000000" pitchFamily="2" charset="0"/>
              <a:cs typeface="Poppins" panose="00000500000000000000" pitchFamily="2" charset="0"/>
            </a:endParaRPr>
          </a:p>
        </p:txBody>
      </p:sp>
      <p:sp>
        <p:nvSpPr>
          <p:cNvPr id="17" name="Flowchart: Connector 16">
            <a:extLst>
              <a:ext uri="{FF2B5EF4-FFF2-40B4-BE49-F238E27FC236}">
                <a16:creationId xmlns:a16="http://schemas.microsoft.com/office/drawing/2014/main" id="{4C91A7A9-76C6-5C2E-478B-78958A205DC7}"/>
              </a:ext>
            </a:extLst>
          </p:cNvPr>
          <p:cNvSpPr/>
          <p:nvPr/>
        </p:nvSpPr>
        <p:spPr>
          <a:xfrm>
            <a:off x="9024371" y="674404"/>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lowchart: Connector 17">
            <a:extLst>
              <a:ext uri="{FF2B5EF4-FFF2-40B4-BE49-F238E27FC236}">
                <a16:creationId xmlns:a16="http://schemas.microsoft.com/office/drawing/2014/main" id="{6C79B913-9121-C0E3-775A-7CF709668169}"/>
              </a:ext>
            </a:extLst>
          </p:cNvPr>
          <p:cNvSpPr/>
          <p:nvPr/>
        </p:nvSpPr>
        <p:spPr>
          <a:xfrm>
            <a:off x="6892178" y="550986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lowchart: Connector 18">
            <a:extLst>
              <a:ext uri="{FF2B5EF4-FFF2-40B4-BE49-F238E27FC236}">
                <a16:creationId xmlns:a16="http://schemas.microsoft.com/office/drawing/2014/main" id="{7D55A065-5D8F-699B-CAD5-956600A06FD1}"/>
              </a:ext>
            </a:extLst>
          </p:cNvPr>
          <p:cNvSpPr/>
          <p:nvPr/>
        </p:nvSpPr>
        <p:spPr>
          <a:xfrm>
            <a:off x="10997406" y="5740400"/>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 name="Picture 27">
            <a:extLst>
              <a:ext uri="{FF2B5EF4-FFF2-40B4-BE49-F238E27FC236}">
                <a16:creationId xmlns:a16="http://schemas.microsoft.com/office/drawing/2014/main" id="{7F52F024-178F-4960-6EC5-A5B6B07D9C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5294" y="209112"/>
            <a:ext cx="961988" cy="961988"/>
          </a:xfrm>
          <a:prstGeom prst="rect">
            <a:avLst/>
          </a:prstGeom>
        </p:spPr>
      </p:pic>
      <p:sp>
        <p:nvSpPr>
          <p:cNvPr id="2" name="AutoShape 2" descr="Image of ">
            <a:extLst>
              <a:ext uri="{FF2B5EF4-FFF2-40B4-BE49-F238E27FC236}">
                <a16:creationId xmlns:a16="http://schemas.microsoft.com/office/drawing/2014/main" id="{7BD0FD3B-B78F-8082-2912-824554E92F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Image of ">
            <a:extLst>
              <a:ext uri="{FF2B5EF4-FFF2-40B4-BE49-F238E27FC236}">
                <a16:creationId xmlns:a16="http://schemas.microsoft.com/office/drawing/2014/main" id="{CB6CBB18-4800-2D82-19C5-1234F63CA7F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1" name="Picture 30">
            <a:extLst>
              <a:ext uri="{FF2B5EF4-FFF2-40B4-BE49-F238E27FC236}">
                <a16:creationId xmlns:a16="http://schemas.microsoft.com/office/drawing/2014/main" id="{571D7AB4-8545-FD2F-80A6-A4EA93945E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84514" y="2198916"/>
            <a:ext cx="5279572" cy="2481942"/>
          </a:xfrm>
          <a:prstGeom prst="rect">
            <a:avLst/>
          </a:prstGeom>
        </p:spPr>
      </p:pic>
      <p:grpSp>
        <p:nvGrpSpPr>
          <p:cNvPr id="20" name="Group 19">
            <a:extLst>
              <a:ext uri="{FF2B5EF4-FFF2-40B4-BE49-F238E27FC236}">
                <a16:creationId xmlns:a16="http://schemas.microsoft.com/office/drawing/2014/main" id="{2E0B9D15-33D0-DD82-F9B9-A62E397585AB}"/>
              </a:ext>
            </a:extLst>
          </p:cNvPr>
          <p:cNvGrpSpPr/>
          <p:nvPr/>
        </p:nvGrpSpPr>
        <p:grpSpPr>
          <a:xfrm rot="9009327">
            <a:off x="2778393" y="688902"/>
            <a:ext cx="2299791" cy="5480193"/>
            <a:chOff x="3753542" y="990487"/>
            <a:chExt cx="2046332" cy="4876222"/>
          </a:xfrm>
        </p:grpSpPr>
        <p:sp>
          <p:nvSpPr>
            <p:cNvPr id="12" name="Oval 11">
              <a:extLst>
                <a:ext uri="{FF2B5EF4-FFF2-40B4-BE49-F238E27FC236}">
                  <a16:creationId xmlns:a16="http://schemas.microsoft.com/office/drawing/2014/main" id="{EE8F1EA6-1449-2D14-64DF-6AE6F61827F1}"/>
                </a:ext>
              </a:extLst>
            </p:cNvPr>
            <p:cNvSpPr/>
            <p:nvPr/>
          </p:nvSpPr>
          <p:spPr>
            <a:xfrm rot="2843287">
              <a:off x="3753542" y="3846218"/>
              <a:ext cx="2020491" cy="2020491"/>
            </a:xfrm>
            <a:custGeom>
              <a:avLst/>
              <a:gdLst>
                <a:gd name="connsiteX0" fmla="*/ 0 w 4040981"/>
                <a:gd name="connsiteY0" fmla="*/ 2020491 h 4040981"/>
                <a:gd name="connsiteX1" fmla="*/ 2020491 w 4040981"/>
                <a:gd name="connsiteY1" fmla="*/ 0 h 4040981"/>
                <a:gd name="connsiteX2" fmla="*/ 4040982 w 4040981"/>
                <a:gd name="connsiteY2" fmla="*/ 2020491 h 4040981"/>
                <a:gd name="connsiteX3" fmla="*/ 2020491 w 4040981"/>
                <a:gd name="connsiteY3" fmla="*/ 4040982 h 4040981"/>
                <a:gd name="connsiteX4" fmla="*/ 0 w 4040981"/>
                <a:gd name="connsiteY4" fmla="*/ 2020491 h 4040981"/>
                <a:gd name="connsiteX0" fmla="*/ 2020491 w 4040982"/>
                <a:gd name="connsiteY0" fmla="*/ 0 h 4040982"/>
                <a:gd name="connsiteX1" fmla="*/ 4040982 w 4040982"/>
                <a:gd name="connsiteY1" fmla="*/ 2020491 h 4040982"/>
                <a:gd name="connsiteX2" fmla="*/ 2020491 w 4040982"/>
                <a:gd name="connsiteY2" fmla="*/ 4040982 h 4040982"/>
                <a:gd name="connsiteX3" fmla="*/ 0 w 4040982"/>
                <a:gd name="connsiteY3" fmla="*/ 2020491 h 4040982"/>
                <a:gd name="connsiteX4" fmla="*/ 2111931 w 4040982"/>
                <a:gd name="connsiteY4" fmla="*/ 91440 h 4040982"/>
                <a:gd name="connsiteX0" fmla="*/ 2020491 w 4040982"/>
                <a:gd name="connsiteY0" fmla="*/ 0 h 4040982"/>
                <a:gd name="connsiteX1" fmla="*/ 4040982 w 4040982"/>
                <a:gd name="connsiteY1" fmla="*/ 2020491 h 4040982"/>
                <a:gd name="connsiteX2" fmla="*/ 2020491 w 4040982"/>
                <a:gd name="connsiteY2" fmla="*/ 4040982 h 4040982"/>
                <a:gd name="connsiteX3" fmla="*/ 0 w 4040982"/>
                <a:gd name="connsiteY3" fmla="*/ 2020491 h 4040982"/>
                <a:gd name="connsiteX0" fmla="*/ 4040982 w 4040982"/>
                <a:gd name="connsiteY0" fmla="*/ 0 h 2020491"/>
                <a:gd name="connsiteX1" fmla="*/ 2020491 w 4040982"/>
                <a:gd name="connsiteY1" fmla="*/ 2020491 h 2020491"/>
                <a:gd name="connsiteX2" fmla="*/ 0 w 4040982"/>
                <a:gd name="connsiteY2" fmla="*/ 0 h 2020491"/>
                <a:gd name="connsiteX0" fmla="*/ 2020491 w 2020491"/>
                <a:gd name="connsiteY0" fmla="*/ 0 h 2020491"/>
                <a:gd name="connsiteX1" fmla="*/ 0 w 2020491"/>
                <a:gd name="connsiteY1" fmla="*/ 2020491 h 2020491"/>
              </a:gdLst>
              <a:ahLst/>
              <a:cxnLst>
                <a:cxn ang="0">
                  <a:pos x="connsiteX0" y="connsiteY0"/>
                </a:cxn>
                <a:cxn ang="0">
                  <a:pos x="connsiteX1" y="connsiteY1"/>
                </a:cxn>
              </a:cxnLst>
              <a:rect l="l" t="t" r="r" b="b"/>
              <a:pathLst>
                <a:path w="2020491" h="2020491">
                  <a:moveTo>
                    <a:pt x="2020491" y="0"/>
                  </a:moveTo>
                  <a:cubicBezTo>
                    <a:pt x="2020491" y="1115886"/>
                    <a:pt x="1115886" y="2020491"/>
                    <a:pt x="0" y="2020491"/>
                  </a:cubicBezTo>
                </a:path>
              </a:pathLst>
            </a:custGeom>
            <a:noFill/>
            <a:ln w="403225" cap="rnd">
              <a:gradFill>
                <a:gsLst>
                  <a:gs pos="0">
                    <a:schemeClr val="bg1"/>
                  </a:gs>
                  <a:gs pos="100000">
                    <a:srgbClr val="23AAAD"/>
                  </a:gs>
                </a:gsLst>
                <a:lin ang="21594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6BA0D63-1A8C-FA71-AF34-8D981C9DA020}"/>
                </a:ext>
              </a:extLst>
            </p:cNvPr>
            <p:cNvSpPr/>
            <p:nvPr/>
          </p:nvSpPr>
          <p:spPr>
            <a:xfrm rot="18815050">
              <a:off x="3779383" y="990487"/>
              <a:ext cx="2020491" cy="2020491"/>
            </a:xfrm>
            <a:custGeom>
              <a:avLst/>
              <a:gdLst>
                <a:gd name="connsiteX0" fmla="*/ 0 w 4040981"/>
                <a:gd name="connsiteY0" fmla="*/ 2020491 h 4040981"/>
                <a:gd name="connsiteX1" fmla="*/ 2020491 w 4040981"/>
                <a:gd name="connsiteY1" fmla="*/ 0 h 4040981"/>
                <a:gd name="connsiteX2" fmla="*/ 4040982 w 4040981"/>
                <a:gd name="connsiteY2" fmla="*/ 2020491 h 4040981"/>
                <a:gd name="connsiteX3" fmla="*/ 2020491 w 4040981"/>
                <a:gd name="connsiteY3" fmla="*/ 4040982 h 4040981"/>
                <a:gd name="connsiteX4" fmla="*/ 0 w 4040981"/>
                <a:gd name="connsiteY4" fmla="*/ 2020491 h 4040981"/>
                <a:gd name="connsiteX0" fmla="*/ 0 w 4040982"/>
                <a:gd name="connsiteY0" fmla="*/ 2020491 h 4040982"/>
                <a:gd name="connsiteX1" fmla="*/ 2020491 w 4040982"/>
                <a:gd name="connsiteY1" fmla="*/ 0 h 4040982"/>
                <a:gd name="connsiteX2" fmla="*/ 4040982 w 4040982"/>
                <a:gd name="connsiteY2" fmla="*/ 2020491 h 4040982"/>
                <a:gd name="connsiteX3" fmla="*/ 2020491 w 4040982"/>
                <a:gd name="connsiteY3" fmla="*/ 4040982 h 4040982"/>
                <a:gd name="connsiteX4" fmla="*/ 91440 w 4040982"/>
                <a:gd name="connsiteY4" fmla="*/ 2111931 h 4040982"/>
                <a:gd name="connsiteX0" fmla="*/ 1935425 w 3955916"/>
                <a:gd name="connsiteY0" fmla="*/ 0 h 4040982"/>
                <a:gd name="connsiteX1" fmla="*/ 3955916 w 3955916"/>
                <a:gd name="connsiteY1" fmla="*/ 2020491 h 4040982"/>
                <a:gd name="connsiteX2" fmla="*/ 1935425 w 3955916"/>
                <a:gd name="connsiteY2" fmla="*/ 4040982 h 4040982"/>
                <a:gd name="connsiteX3" fmla="*/ 6374 w 3955916"/>
                <a:gd name="connsiteY3" fmla="*/ 2111931 h 4040982"/>
                <a:gd name="connsiteX0" fmla="*/ 0 w 2020491"/>
                <a:gd name="connsiteY0" fmla="*/ 0 h 4040982"/>
                <a:gd name="connsiteX1" fmla="*/ 2020491 w 2020491"/>
                <a:gd name="connsiteY1" fmla="*/ 2020491 h 4040982"/>
                <a:gd name="connsiteX2" fmla="*/ 0 w 2020491"/>
                <a:gd name="connsiteY2" fmla="*/ 4040982 h 4040982"/>
                <a:gd name="connsiteX0" fmla="*/ 0 w 2020491"/>
                <a:gd name="connsiteY0" fmla="*/ 0 h 2020491"/>
                <a:gd name="connsiteX1" fmla="*/ 2020491 w 2020491"/>
                <a:gd name="connsiteY1" fmla="*/ 2020491 h 2020491"/>
              </a:gdLst>
              <a:ahLst/>
              <a:cxnLst>
                <a:cxn ang="0">
                  <a:pos x="connsiteX0" y="connsiteY0"/>
                </a:cxn>
                <a:cxn ang="0">
                  <a:pos x="connsiteX1" y="connsiteY1"/>
                </a:cxn>
              </a:cxnLst>
              <a:rect l="l" t="t" r="r" b="b"/>
              <a:pathLst>
                <a:path w="2020491" h="2020491">
                  <a:moveTo>
                    <a:pt x="0" y="0"/>
                  </a:moveTo>
                  <a:cubicBezTo>
                    <a:pt x="1115886" y="0"/>
                    <a:pt x="2020491" y="904605"/>
                    <a:pt x="2020491" y="2020491"/>
                  </a:cubicBezTo>
                </a:path>
              </a:pathLst>
            </a:custGeom>
            <a:noFill/>
            <a:ln w="403225" cap="rnd">
              <a:gradFill>
                <a:gsLst>
                  <a:gs pos="100000">
                    <a:schemeClr val="bg1"/>
                  </a:gs>
                  <a:gs pos="0">
                    <a:srgbClr val="F39E34"/>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
            </a:p>
          </p:txBody>
        </p:sp>
      </p:grpSp>
    </p:spTree>
    <p:extLst>
      <p:ext uri="{BB962C8B-B14F-4D97-AF65-F5344CB8AC3E}">
        <p14:creationId xmlns:p14="http://schemas.microsoft.com/office/powerpoint/2010/main" val="2256709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486B9-F0CD-2B40-04BA-86486C5B14B8}"/>
              </a:ext>
            </a:extLst>
          </p:cNvPr>
          <p:cNvSpPr>
            <a:spLocks noGrp="1"/>
          </p:cNvSpPr>
          <p:nvPr>
            <p:ph type="title"/>
          </p:nvPr>
        </p:nvSpPr>
        <p:spPr>
          <a:xfrm>
            <a:off x="653143" y="268969"/>
            <a:ext cx="10515600" cy="732517"/>
          </a:xfrm>
        </p:spPr>
        <p:txBody>
          <a:bodyPr>
            <a:normAutofit/>
          </a:bodyPr>
          <a:lstStyle/>
          <a:p>
            <a:pPr algn="ctr"/>
            <a:r>
              <a:rPr lang="en-US" b="1" dirty="0">
                <a:solidFill>
                  <a:schemeClr val="accent1"/>
                </a:solidFill>
                <a:latin typeface="Poppins" panose="00000500000000000000" pitchFamily="2" charset="0"/>
                <a:cs typeface="Poppins" panose="00000500000000000000" pitchFamily="2" charset="0"/>
              </a:rPr>
              <a:t>Abstract</a:t>
            </a:r>
            <a:endParaRPr lang="en-IN" b="1" dirty="0">
              <a:solidFill>
                <a:schemeClr val="accent1"/>
              </a:solidFill>
              <a:latin typeface="Poppins" panose="00000500000000000000" pitchFamily="2" charset="0"/>
              <a:cs typeface="Poppins" panose="00000500000000000000" pitchFamily="2" charset="0"/>
            </a:endParaRPr>
          </a:p>
        </p:txBody>
      </p:sp>
      <p:sp>
        <p:nvSpPr>
          <p:cNvPr id="12" name="TextBox 11">
            <a:extLst>
              <a:ext uri="{FF2B5EF4-FFF2-40B4-BE49-F238E27FC236}">
                <a16:creationId xmlns:a16="http://schemas.microsoft.com/office/drawing/2014/main" id="{8CC98EE3-F940-93A7-2682-04270A261434}"/>
              </a:ext>
            </a:extLst>
          </p:cNvPr>
          <p:cNvSpPr txBox="1"/>
          <p:nvPr/>
        </p:nvSpPr>
        <p:spPr>
          <a:xfrm>
            <a:off x="239487" y="1001486"/>
            <a:ext cx="11800114" cy="4708981"/>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Event &amp; Ticket Booking System is a web-based application designed to simplify event management and ticket reservations. The system enables admins to create, manage, and approve events and venues, while users can register, log in, explore events, and book tickets seamlessly. Built with </a:t>
            </a:r>
            <a:r>
              <a:rPr lang="en-US" sz="2000" dirty="0" err="1">
                <a:latin typeface="Times New Roman" panose="02020603050405020304" pitchFamily="18" charset="0"/>
                <a:cs typeface="Times New Roman" panose="02020603050405020304" pitchFamily="18" charset="0"/>
              </a:rPr>
              <a:t>FastAPI</a:t>
            </a:r>
            <a:r>
              <a:rPr lang="en-US" sz="2000" dirty="0">
                <a:latin typeface="Times New Roman" panose="02020603050405020304" pitchFamily="18" charset="0"/>
                <a:cs typeface="Times New Roman" panose="02020603050405020304" pitchFamily="18" charset="0"/>
              </a:rPr>
              <a:t> for high-performance backend development and MongoDB (async with Motor) for scalable data storage, the system ensures efficient handling of concurrent requests. </a:t>
            </a:r>
          </a:p>
          <a:p>
            <a:endParaRPr lang="en-US" sz="2000" dirty="0"/>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project integrates JWT-based authentication to provide secure login, role-based access (admin/user), and session management. </a:t>
            </a:r>
            <a:r>
              <a:rPr lang="en-US" sz="2000" dirty="0" err="1">
                <a:latin typeface="Times New Roman" panose="02020603050405020304" pitchFamily="18" charset="0"/>
                <a:cs typeface="Times New Roman" panose="02020603050405020304" pitchFamily="18" charset="0"/>
              </a:rPr>
              <a:t>Pydantic</a:t>
            </a:r>
            <a:r>
              <a:rPr lang="en-US" sz="2000" dirty="0">
                <a:latin typeface="Times New Roman" panose="02020603050405020304" pitchFamily="18" charset="0"/>
                <a:cs typeface="Times New Roman" panose="02020603050405020304" pitchFamily="18" charset="0"/>
              </a:rPr>
              <a:t> models are used for strict data validation, while centralized logging and exception handling ensure maintainability and traceability. The architecture follows a modular design, separating routers, services, models, and utilities for clarity and scalability. </a:t>
            </a:r>
          </a:p>
          <a:p>
            <a:endParaRPr lang="en-US" sz="2000" dirty="0"/>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system demonstrates the implementation of real-world backend practices including asynchronous programming, password hashing with </a:t>
            </a:r>
            <a:r>
              <a:rPr lang="en-US" sz="2000" dirty="0" err="1">
                <a:latin typeface="Times New Roman" panose="02020603050405020304" pitchFamily="18" charset="0"/>
                <a:cs typeface="Times New Roman" panose="02020603050405020304" pitchFamily="18" charset="0"/>
              </a:rPr>
              <a:t>Passlib</a:t>
            </a:r>
            <a:r>
              <a:rPr lang="en-US" sz="2000" dirty="0">
                <a:latin typeface="Times New Roman" panose="02020603050405020304" pitchFamily="18" charset="0"/>
                <a:cs typeface="Times New Roman" panose="02020603050405020304" pitchFamily="18" charset="0"/>
              </a:rPr>
              <a:t>, sequence-based ID generation, and structured database indexing. It can be extended to handle large-scale events such as concerts, workshops, and seminars, offering a reliable and secure platform for both event organizers and participants.</a:t>
            </a:r>
            <a:endParaRPr lang="en-IN" sz="2000" dirty="0">
              <a:latin typeface="Times New Roman" panose="02020603050405020304" pitchFamily="18" charset="0"/>
              <a:cs typeface="Times New Roman" panose="02020603050405020304" pitchFamily="18" charset="0"/>
            </a:endParaRPr>
          </a:p>
        </p:txBody>
      </p:sp>
      <p:grpSp>
        <p:nvGrpSpPr>
          <p:cNvPr id="13" name="Group 12">
            <a:extLst>
              <a:ext uri="{FF2B5EF4-FFF2-40B4-BE49-F238E27FC236}">
                <a16:creationId xmlns:a16="http://schemas.microsoft.com/office/drawing/2014/main" id="{525665B4-FD46-54B0-CEAC-CFAFD5F77A14}"/>
              </a:ext>
            </a:extLst>
          </p:cNvPr>
          <p:cNvGrpSpPr/>
          <p:nvPr/>
        </p:nvGrpSpPr>
        <p:grpSpPr>
          <a:xfrm>
            <a:off x="547576" y="6145615"/>
            <a:ext cx="4886323" cy="388987"/>
            <a:chOff x="618333" y="6026099"/>
            <a:chExt cx="4886323" cy="388987"/>
          </a:xfrm>
        </p:grpSpPr>
        <p:sp>
          <p:nvSpPr>
            <p:cNvPr id="14" name="TextBox 13">
              <a:extLst>
                <a:ext uri="{FF2B5EF4-FFF2-40B4-BE49-F238E27FC236}">
                  <a16:creationId xmlns:a16="http://schemas.microsoft.com/office/drawing/2014/main" id="{37488DF4-66D9-D3CF-1852-4D1F193D1D4F}"/>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15" name="Graphic 14">
              <a:extLst>
                <a:ext uri="{FF2B5EF4-FFF2-40B4-BE49-F238E27FC236}">
                  <a16:creationId xmlns:a16="http://schemas.microsoft.com/office/drawing/2014/main" id="{7B87D117-CF52-BC65-C56A-7FF280D5B5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16" name="Straight Connector 15">
              <a:extLst>
                <a:ext uri="{FF2B5EF4-FFF2-40B4-BE49-F238E27FC236}">
                  <a16:creationId xmlns:a16="http://schemas.microsoft.com/office/drawing/2014/main" id="{F34EB3C6-5ECC-8056-E67D-1A3C0D01AA27}"/>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3" name="Flowchart: Connector 2">
            <a:extLst>
              <a:ext uri="{FF2B5EF4-FFF2-40B4-BE49-F238E27FC236}">
                <a16:creationId xmlns:a16="http://schemas.microsoft.com/office/drawing/2014/main" id="{150121C2-9615-C71C-8F2B-0E6BF966B6A1}"/>
              </a:ext>
            </a:extLst>
          </p:cNvPr>
          <p:cNvSpPr/>
          <p:nvPr/>
        </p:nvSpPr>
        <p:spPr>
          <a:xfrm>
            <a:off x="9394485" y="441100"/>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CC92FDB9-5E0F-6DE9-C1D8-66E40CFD37A3}"/>
              </a:ext>
            </a:extLst>
          </p:cNvPr>
          <p:cNvSpPr/>
          <p:nvPr/>
        </p:nvSpPr>
        <p:spPr>
          <a:xfrm>
            <a:off x="10997406" y="5740400"/>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D45DD282-24BE-C33E-C383-44AA2BB02F4B}"/>
              </a:ext>
            </a:extLst>
          </p:cNvPr>
          <p:cNvSpPr/>
          <p:nvPr/>
        </p:nvSpPr>
        <p:spPr>
          <a:xfrm>
            <a:off x="1656149" y="365615"/>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Connector 6">
            <a:extLst>
              <a:ext uri="{FF2B5EF4-FFF2-40B4-BE49-F238E27FC236}">
                <a16:creationId xmlns:a16="http://schemas.microsoft.com/office/drawing/2014/main" id="{2B93675D-F0BD-B8EF-9892-B041B17A9BC4}"/>
              </a:ext>
            </a:extLst>
          </p:cNvPr>
          <p:cNvSpPr/>
          <p:nvPr/>
        </p:nvSpPr>
        <p:spPr>
          <a:xfrm>
            <a:off x="10565720" y="4110507"/>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Connector 7">
            <a:extLst>
              <a:ext uri="{FF2B5EF4-FFF2-40B4-BE49-F238E27FC236}">
                <a16:creationId xmlns:a16="http://schemas.microsoft.com/office/drawing/2014/main" id="{2406049C-26A4-3564-42C7-434DD7000191}"/>
              </a:ext>
            </a:extLst>
          </p:cNvPr>
          <p:cNvSpPr/>
          <p:nvPr/>
        </p:nvSpPr>
        <p:spPr>
          <a:xfrm>
            <a:off x="152399" y="2618958"/>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63001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B846E-794E-892C-47BA-53E96DFCB3DD}"/>
              </a:ext>
            </a:extLst>
          </p:cNvPr>
          <p:cNvSpPr>
            <a:spLocks noGrp="1"/>
          </p:cNvSpPr>
          <p:nvPr>
            <p:ph type="title"/>
          </p:nvPr>
        </p:nvSpPr>
        <p:spPr>
          <a:xfrm>
            <a:off x="838200" y="29143"/>
            <a:ext cx="10515600" cy="823912"/>
          </a:xfrm>
        </p:spPr>
        <p:txBody>
          <a:bodyPr>
            <a:normAutofit/>
          </a:bodyPr>
          <a:lstStyle/>
          <a:p>
            <a:pPr algn="ctr"/>
            <a:r>
              <a:rPr lang="en-US" b="1" dirty="0">
                <a:solidFill>
                  <a:schemeClr val="accent1"/>
                </a:solidFill>
                <a:latin typeface="Poppins" panose="00000500000000000000" pitchFamily="2" charset="0"/>
                <a:cs typeface="Poppins" panose="00000500000000000000" pitchFamily="2" charset="0"/>
              </a:rPr>
              <a:t>Introduction</a:t>
            </a:r>
            <a:endParaRPr lang="en-IN" b="1" dirty="0">
              <a:solidFill>
                <a:schemeClr val="accent1"/>
              </a:solidFill>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DE8224DA-48A2-E265-48B5-91F71665A702}"/>
              </a:ext>
            </a:extLst>
          </p:cNvPr>
          <p:cNvSpPr txBox="1"/>
          <p:nvPr/>
        </p:nvSpPr>
        <p:spPr>
          <a:xfrm>
            <a:off x="536691" y="853055"/>
            <a:ext cx="11506200" cy="5016758"/>
          </a:xfrm>
          <a:prstGeom prst="rect">
            <a:avLst/>
          </a:prstGeom>
          <a:noFill/>
        </p:spPr>
        <p:txBody>
          <a:bodyPr wrap="square">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Event &amp; Ticket Booking System is a web-based application designed to simplify the process of managing events and ticket reservations. The system provides a role-based architecture where:</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are empowered to register, log in, create and manage events and venues, approve or reject bookings , and monitor overall user activity. This ensures that event management is seamless, controlled, and transparent.</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can register, log in, browse events based on title, category, and book tickets conveniently. They can also view, manage, or cancel their bookings, making the experience fully user-friendly.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Built using </a:t>
            </a:r>
            <a:r>
              <a:rPr lang="en-US" sz="2000" dirty="0" err="1">
                <a:latin typeface="Times New Roman" panose="02020603050405020304" pitchFamily="18" charset="0"/>
                <a:cs typeface="Times New Roman" panose="02020603050405020304" pitchFamily="18" charset="0"/>
              </a:rPr>
              <a:t>FastAPI</a:t>
            </a:r>
            <a:r>
              <a:rPr lang="en-US" sz="2000" dirty="0">
                <a:latin typeface="Times New Roman" panose="02020603050405020304" pitchFamily="18" charset="0"/>
                <a:cs typeface="Times New Roman" panose="02020603050405020304" pitchFamily="18" charset="0"/>
              </a:rPr>
              <a:t> for backend services and MongoDB (async) for database operations, the project ensures security, scalability, and performance. It integrates JWT authentication, logging, and exception handling to deliver a robust, real-time ticket booking platform.</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system aims to replace manual processes with an automated, efficient, and user-friendly digital solution.</a:t>
            </a:r>
            <a:endParaRPr lang="en-IN" sz="2000" dirty="0">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84833305-374E-8D10-FE5A-3816D4D2F71A}"/>
              </a:ext>
            </a:extLst>
          </p:cNvPr>
          <p:cNvGrpSpPr/>
          <p:nvPr/>
        </p:nvGrpSpPr>
        <p:grpSpPr>
          <a:xfrm>
            <a:off x="536691" y="6298380"/>
            <a:ext cx="4886323" cy="388987"/>
            <a:chOff x="618333" y="6026099"/>
            <a:chExt cx="4886323" cy="388987"/>
          </a:xfrm>
        </p:grpSpPr>
        <p:sp>
          <p:nvSpPr>
            <p:cNvPr id="12" name="TextBox 11">
              <a:extLst>
                <a:ext uri="{FF2B5EF4-FFF2-40B4-BE49-F238E27FC236}">
                  <a16:creationId xmlns:a16="http://schemas.microsoft.com/office/drawing/2014/main" id="{1A8A0AB5-7F98-87EA-99F5-A4F0DAE88DBB}"/>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13" name="Graphic 12">
              <a:extLst>
                <a:ext uri="{FF2B5EF4-FFF2-40B4-BE49-F238E27FC236}">
                  <a16:creationId xmlns:a16="http://schemas.microsoft.com/office/drawing/2014/main" id="{DB04E9F2-D666-7A34-63CC-ADC92CE6DC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14" name="Straight Connector 13">
              <a:extLst>
                <a:ext uri="{FF2B5EF4-FFF2-40B4-BE49-F238E27FC236}">
                  <a16:creationId xmlns:a16="http://schemas.microsoft.com/office/drawing/2014/main" id="{A2B22E89-D8FA-B8B7-72EC-A69113B6D7A9}"/>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3" name="Flowchart: Connector 2">
            <a:extLst>
              <a:ext uri="{FF2B5EF4-FFF2-40B4-BE49-F238E27FC236}">
                <a16:creationId xmlns:a16="http://schemas.microsoft.com/office/drawing/2014/main" id="{098078FE-4C2D-17FB-ABDB-71B30C5AD71D}"/>
              </a:ext>
            </a:extLst>
          </p:cNvPr>
          <p:cNvSpPr/>
          <p:nvPr/>
        </p:nvSpPr>
        <p:spPr>
          <a:xfrm>
            <a:off x="10757920" y="5826468"/>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DF67CA7B-0C1C-EC09-524A-E1F07654F7DE}"/>
              </a:ext>
            </a:extLst>
          </p:cNvPr>
          <p:cNvSpPr/>
          <p:nvPr/>
        </p:nvSpPr>
        <p:spPr>
          <a:xfrm>
            <a:off x="9394485" y="441100"/>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B80BA0B5-0EE0-CB55-1478-A4463518081A}"/>
              </a:ext>
            </a:extLst>
          </p:cNvPr>
          <p:cNvSpPr/>
          <p:nvPr/>
        </p:nvSpPr>
        <p:spPr>
          <a:xfrm>
            <a:off x="2365715" y="326153"/>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B7D9E30A-351A-EE84-03DA-D596FBA11BA5}"/>
              </a:ext>
            </a:extLst>
          </p:cNvPr>
          <p:cNvSpPr/>
          <p:nvPr/>
        </p:nvSpPr>
        <p:spPr>
          <a:xfrm>
            <a:off x="10478520" y="3511793"/>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Connector 7">
            <a:extLst>
              <a:ext uri="{FF2B5EF4-FFF2-40B4-BE49-F238E27FC236}">
                <a16:creationId xmlns:a16="http://schemas.microsoft.com/office/drawing/2014/main" id="{71ECFFD1-EB2D-B669-1135-411EF844700B}"/>
              </a:ext>
            </a:extLst>
          </p:cNvPr>
          <p:cNvSpPr/>
          <p:nvPr/>
        </p:nvSpPr>
        <p:spPr>
          <a:xfrm>
            <a:off x="2340961" y="5722390"/>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29676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4B57D-99D2-0670-CE1B-5BD64797AD5B}"/>
              </a:ext>
            </a:extLst>
          </p:cNvPr>
          <p:cNvSpPr>
            <a:spLocks noGrp="1"/>
          </p:cNvSpPr>
          <p:nvPr>
            <p:ph type="title"/>
          </p:nvPr>
        </p:nvSpPr>
        <p:spPr>
          <a:xfrm>
            <a:off x="3146653" y="60973"/>
            <a:ext cx="10515600" cy="651657"/>
          </a:xfrm>
        </p:spPr>
        <p:txBody>
          <a:bodyPr>
            <a:noAutofit/>
          </a:bodyPr>
          <a:lstStyle/>
          <a:p>
            <a:r>
              <a:rPr lang="en-US" b="1" dirty="0">
                <a:solidFill>
                  <a:schemeClr val="accent1"/>
                </a:solidFill>
                <a:latin typeface="Poppins" panose="00000500000000000000" pitchFamily="2" charset="0"/>
                <a:cs typeface="Poppins" panose="00000500000000000000" pitchFamily="2" charset="0"/>
              </a:rPr>
              <a:t>Learning Journey</a:t>
            </a:r>
            <a:endParaRPr lang="en-IN" b="1" dirty="0">
              <a:solidFill>
                <a:schemeClr val="accent1"/>
              </a:solidFill>
              <a:latin typeface="Poppins" panose="00000500000000000000" pitchFamily="2" charset="0"/>
              <a:cs typeface="Poppins" panose="00000500000000000000" pitchFamily="2" charset="0"/>
            </a:endParaRPr>
          </a:p>
        </p:txBody>
      </p:sp>
      <p:sp>
        <p:nvSpPr>
          <p:cNvPr id="19" name="Rectangle 1">
            <a:extLst>
              <a:ext uri="{FF2B5EF4-FFF2-40B4-BE49-F238E27FC236}">
                <a16:creationId xmlns:a16="http://schemas.microsoft.com/office/drawing/2014/main" id="{723C4B36-CAAC-76C6-4070-5C187D02ECEF}"/>
              </a:ext>
            </a:extLst>
          </p:cNvPr>
          <p:cNvSpPr>
            <a:spLocks noChangeArrowheads="1"/>
          </p:cNvSpPr>
          <p:nvPr/>
        </p:nvSpPr>
        <p:spPr bwMode="auto">
          <a:xfrm>
            <a:off x="3233738" y="21431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3" name="Group 2">
            <a:extLst>
              <a:ext uri="{FF2B5EF4-FFF2-40B4-BE49-F238E27FC236}">
                <a16:creationId xmlns:a16="http://schemas.microsoft.com/office/drawing/2014/main" id="{77929E3C-56B1-5005-0396-E619247BEF41}"/>
              </a:ext>
            </a:extLst>
          </p:cNvPr>
          <p:cNvGrpSpPr/>
          <p:nvPr/>
        </p:nvGrpSpPr>
        <p:grpSpPr>
          <a:xfrm>
            <a:off x="210118" y="6408040"/>
            <a:ext cx="4886323" cy="388987"/>
            <a:chOff x="618333" y="6026099"/>
            <a:chExt cx="4886323" cy="388987"/>
          </a:xfrm>
        </p:grpSpPr>
        <p:sp>
          <p:nvSpPr>
            <p:cNvPr id="4" name="TextBox 3">
              <a:extLst>
                <a:ext uri="{FF2B5EF4-FFF2-40B4-BE49-F238E27FC236}">
                  <a16:creationId xmlns:a16="http://schemas.microsoft.com/office/drawing/2014/main" id="{A80FF687-C6A7-6B53-A8FA-42CFA1253E8D}"/>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5" name="Graphic 4">
              <a:extLst>
                <a:ext uri="{FF2B5EF4-FFF2-40B4-BE49-F238E27FC236}">
                  <a16:creationId xmlns:a16="http://schemas.microsoft.com/office/drawing/2014/main" id="{E8E3BC1D-8EC3-DF59-BC30-6E701FA604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6" name="Straight Connector 5">
              <a:extLst>
                <a:ext uri="{FF2B5EF4-FFF2-40B4-BE49-F238E27FC236}">
                  <a16:creationId xmlns:a16="http://schemas.microsoft.com/office/drawing/2014/main" id="{F7B99829-15AD-A67B-54F9-73BCDCD4A1DB}"/>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graphicFrame>
        <p:nvGraphicFramePr>
          <p:cNvPr id="13" name="Table 12">
            <a:extLst>
              <a:ext uri="{FF2B5EF4-FFF2-40B4-BE49-F238E27FC236}">
                <a16:creationId xmlns:a16="http://schemas.microsoft.com/office/drawing/2014/main" id="{E6271CCF-D40F-DD74-E0AA-DF6663747B0B}"/>
              </a:ext>
            </a:extLst>
          </p:cNvPr>
          <p:cNvGraphicFramePr>
            <a:graphicFrameLocks noGrp="1"/>
          </p:cNvGraphicFramePr>
          <p:nvPr>
            <p:extLst>
              <p:ext uri="{D42A27DB-BD31-4B8C-83A1-F6EECF244321}">
                <p14:modId xmlns:p14="http://schemas.microsoft.com/office/powerpoint/2010/main" val="990962763"/>
              </p:ext>
            </p:extLst>
          </p:nvPr>
        </p:nvGraphicFramePr>
        <p:xfrm>
          <a:off x="375841" y="826536"/>
          <a:ext cx="11237574" cy="5504056"/>
        </p:xfrm>
        <a:graphic>
          <a:graphicData uri="http://schemas.openxmlformats.org/drawingml/2006/table">
            <a:tbl>
              <a:tblPr firstRow="1" bandRow="1">
                <a:tableStyleId>{93296810-A885-4BE3-A3E7-6D5BEEA58F35}</a:tableStyleId>
              </a:tblPr>
              <a:tblGrid>
                <a:gridCol w="5618787">
                  <a:extLst>
                    <a:ext uri="{9D8B030D-6E8A-4147-A177-3AD203B41FA5}">
                      <a16:colId xmlns:a16="http://schemas.microsoft.com/office/drawing/2014/main" val="4002796290"/>
                    </a:ext>
                  </a:extLst>
                </a:gridCol>
                <a:gridCol w="5618787">
                  <a:extLst>
                    <a:ext uri="{9D8B030D-6E8A-4147-A177-3AD203B41FA5}">
                      <a16:colId xmlns:a16="http://schemas.microsoft.com/office/drawing/2014/main" val="4010789712"/>
                    </a:ext>
                  </a:extLst>
                </a:gridCol>
              </a:tblGrid>
              <a:tr h="358703">
                <a:tc>
                  <a:txBody>
                    <a:bodyPr/>
                    <a:lstStyle/>
                    <a:p>
                      <a:pPr algn="ctr"/>
                      <a:r>
                        <a:rPr lang="en-IN" sz="2000" b="1" dirty="0"/>
                        <a:t>Training Learnings</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algn="ctr" defTabSz="914400" rtl="0" eaLnBrk="1" latinLnBrk="0" hangingPunct="1"/>
                      <a:r>
                        <a:rPr lang="en-IN" sz="2000" b="1" kern="1200" dirty="0">
                          <a:solidFill>
                            <a:schemeClr val="lt1"/>
                          </a:solidFill>
                        </a:rPr>
                        <a:t>Project Learnings</a:t>
                      </a:r>
                      <a:endParaRPr lang="en-IN" sz="2000" b="1" kern="1200" dirty="0">
                        <a:solidFill>
                          <a:schemeClr val="lt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986450844"/>
                  </a:ext>
                </a:extLst>
              </a:tr>
              <a:tr h="469073">
                <a:tc>
                  <a:txBody>
                    <a:bodyPr/>
                    <a:lstStyle/>
                    <a:p>
                      <a:pPr marL="285750" indent="-285750" algn="ctr">
                        <a:buFont typeface="Arial" panose="020B0604020202020204" pitchFamily="34" charset="0"/>
                        <a:buChar char="•"/>
                      </a:pPr>
                      <a:r>
                        <a:rPr lang="en-IN" sz="1600" dirty="0"/>
                        <a:t>Python with </a:t>
                      </a:r>
                      <a:r>
                        <a:rPr lang="en-IN" sz="1600" dirty="0" err="1"/>
                        <a:t>FastAPI</a:t>
                      </a:r>
                      <a:r>
                        <a:rPr lang="en-IN" sz="1600" dirty="0"/>
                        <a:t> &amp; Flask</a:t>
                      </a:r>
                      <a:endParaRPr lang="en-IN" sz="1600" dirty="0">
                        <a:latin typeface="Times New Roman" panose="02020603050405020304" pitchFamily="18" charset="0"/>
                        <a:cs typeface="Times New Roman" panose="02020603050405020304" pitchFamily="18" charset="0"/>
                      </a:endParaRPr>
                    </a:p>
                  </a:txBody>
                  <a:tcPr/>
                </a:tc>
                <a:tc>
                  <a:txBody>
                    <a:bodyPr/>
                    <a:lstStyle/>
                    <a:p>
                      <a:pPr marL="285750" indent="-285750" algn="ctr" defTabSz="914400" rtl="0" eaLnBrk="1" latinLnBrk="0" hangingPunct="1">
                        <a:buFont typeface="Arial" panose="020B0604020202020204" pitchFamily="34" charset="0"/>
                        <a:buChar char="•"/>
                      </a:pPr>
                      <a:r>
                        <a:rPr lang="en-US" sz="1400" kern="1200" dirty="0">
                          <a:solidFill>
                            <a:schemeClr val="dk1"/>
                          </a:solidFill>
                        </a:rPr>
                        <a:t>Built a complete REST API backend for event ticket booking with modular routers &amp; services.</a:t>
                      </a:r>
                      <a:endParaRPr lang="en-IN" sz="14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898798621"/>
                  </a:ext>
                </a:extLst>
              </a:tr>
              <a:tr h="662220">
                <a:tc>
                  <a:txBody>
                    <a:bodyPr/>
                    <a:lstStyle/>
                    <a:p>
                      <a:pPr marL="285750" indent="-285750" algn="ctr" defTabSz="914400" rtl="0" eaLnBrk="1" latinLnBrk="0" hangingPunct="1">
                        <a:buFont typeface="Arial" panose="020B0604020202020204" pitchFamily="34" charset="0"/>
                        <a:buChar char="•"/>
                      </a:pPr>
                      <a:r>
                        <a:rPr lang="en-US" sz="1600" kern="1200" dirty="0">
                          <a:solidFill>
                            <a:schemeClr val="dk1"/>
                          </a:solidFill>
                        </a:rPr>
                        <a:t>MongoDB (sync &amp; async with Motor)</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rPr>
                        <a:t>Designed scalable database models for Users, Admins, Events, Venues &amp; Bookings with async queries.</a:t>
                      </a:r>
                      <a:endParaRPr lang="en-IN"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4465501"/>
                  </a:ext>
                </a:extLst>
              </a:tr>
              <a:tr h="469073">
                <a:tc>
                  <a:txBody>
                    <a:bodyPr/>
                    <a:lstStyle/>
                    <a:p>
                      <a:pPr marL="285750" indent="-285750" algn="ctr" defTabSz="914400" rtl="0" eaLnBrk="1" latinLnBrk="0" hangingPunct="1">
                        <a:buFont typeface="Arial" panose="020B0604020202020204" pitchFamily="34" charset="0"/>
                        <a:buChar char="•"/>
                      </a:pPr>
                      <a:r>
                        <a:rPr lang="en-IN" sz="1600" kern="1200" dirty="0">
                          <a:solidFill>
                            <a:schemeClr val="dk1"/>
                          </a:solidFill>
                        </a:rPr>
                        <a:t>JWT (JSON Web Tokens)</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rPr>
                        <a:t>Implemented secure authentication &amp; role-based access control (Admin/User).</a:t>
                      </a:r>
                      <a:endParaRPr lang="en-IN" sz="14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378339029"/>
                  </a:ext>
                </a:extLst>
              </a:tr>
              <a:tr h="524258">
                <a:tc>
                  <a:txBody>
                    <a:bodyPr/>
                    <a:lstStyle/>
                    <a:p>
                      <a:pPr marL="285750" indent="-285750" algn="ctr" defTabSz="914400" rtl="0" eaLnBrk="1" latinLnBrk="0" hangingPunct="1">
                        <a:buFont typeface="Arial" panose="020B0604020202020204" pitchFamily="34" charset="0"/>
                        <a:buChar char="•"/>
                      </a:pPr>
                      <a:r>
                        <a:rPr lang="en-IN" sz="1600" kern="1200" dirty="0">
                          <a:solidFill>
                            <a:schemeClr val="dk1"/>
                          </a:solidFill>
                        </a:rPr>
                        <a:t>Asynchronous vs Synchronous Programming</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rPr>
                        <a:t>Applied async services for bookings, events, and venue management to optimize performance.</a:t>
                      </a:r>
                      <a:endParaRPr lang="en-IN" sz="14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575673721"/>
                  </a:ext>
                </a:extLst>
              </a:tr>
              <a:tr h="524258">
                <a:tc>
                  <a:txBody>
                    <a:bodyPr/>
                    <a:lstStyle/>
                    <a:p>
                      <a:pPr marL="285750" indent="-285750" algn="ctr" defTabSz="914400" rtl="0" eaLnBrk="1" latinLnBrk="0" hangingPunct="1">
                        <a:buFont typeface="Arial" panose="020B0604020202020204" pitchFamily="34" charset="0"/>
                        <a:buChar char="•"/>
                      </a:pPr>
                      <a:r>
                        <a:rPr lang="en-US" sz="1600" kern="1200" dirty="0">
                          <a:solidFill>
                            <a:schemeClr val="dk1"/>
                          </a:solidFill>
                        </a:rPr>
                        <a:t>Web Security: Authentication &amp; Password Hashing</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rPr>
                        <a:t>Used </a:t>
                      </a:r>
                      <a:r>
                        <a:rPr lang="en-US" sz="1400" kern="1200" dirty="0" err="1">
                          <a:solidFill>
                            <a:schemeClr val="dk1"/>
                          </a:solidFill>
                        </a:rPr>
                        <a:t>Passlib</a:t>
                      </a:r>
                      <a:r>
                        <a:rPr lang="en-US" sz="1400" kern="1200" dirty="0">
                          <a:solidFill>
                            <a:schemeClr val="dk1"/>
                          </a:solidFill>
                        </a:rPr>
                        <a:t> for password hashing, and secure login/logout flows with token validation.</a:t>
                      </a:r>
                      <a:endParaRPr lang="en-IN" sz="14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698649469"/>
                  </a:ext>
                </a:extLst>
              </a:tr>
              <a:tr h="469073">
                <a:tc>
                  <a:txBody>
                    <a:bodyPr/>
                    <a:lstStyle/>
                    <a:p>
                      <a:pPr marL="285750" indent="-285750" algn="ctr" defTabSz="914400" rtl="0" eaLnBrk="1" latinLnBrk="0" hangingPunct="1">
                        <a:buFont typeface="Arial" panose="020B0604020202020204" pitchFamily="34" charset="0"/>
                        <a:buChar char="•"/>
                      </a:pPr>
                      <a:r>
                        <a:rPr lang="en-IN" sz="1600" kern="1200" dirty="0">
                          <a:solidFill>
                            <a:schemeClr val="dk1"/>
                          </a:solidFill>
                        </a:rPr>
                        <a:t>Logging &amp; Exception Handling</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a:solidFill>
                            <a:schemeClr val="dk1"/>
                          </a:solidFill>
                        </a:rPr>
                        <a:t>Implemented centralized logging system and custom exception classes for clean error handling.</a:t>
                      </a:r>
                      <a:endParaRPr lang="en-IN" sz="14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308090553"/>
                  </a:ext>
                </a:extLst>
              </a:tr>
              <a:tr h="662220">
                <a:tc>
                  <a:txBody>
                    <a:bodyPr/>
                    <a:lstStyle/>
                    <a:p>
                      <a:pPr marL="285750" indent="-285750" algn="ctr" defTabSz="914400" rtl="0" eaLnBrk="1" latinLnBrk="0" hangingPunct="1">
                        <a:buFont typeface="Arial" panose="020B0604020202020204" pitchFamily="34" charset="0"/>
                        <a:buChar char="•"/>
                      </a:pPr>
                      <a:r>
                        <a:rPr lang="en-IN" sz="1600" kern="1200" dirty="0">
                          <a:solidFill>
                            <a:schemeClr val="dk1"/>
                          </a:solidFill>
                        </a:rPr>
                        <a:t>Schema Validation with </a:t>
                      </a:r>
                      <a:r>
                        <a:rPr lang="en-IN" sz="1600" kern="1200" dirty="0" err="1">
                          <a:solidFill>
                            <a:schemeClr val="dk1"/>
                          </a:solidFill>
                        </a:rPr>
                        <a:t>Pydantic</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400" kern="1200" dirty="0">
                          <a:solidFill>
                            <a:schemeClr val="dk1"/>
                          </a:solidFill>
                        </a:rPr>
                        <a:t>Defined request/response models for Users, Admins, Events, Venues, and Bookings with strict validation.</a:t>
                      </a:r>
                      <a:endParaRPr lang="en-IN"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724891567"/>
                  </a:ext>
                </a:extLst>
              </a:tr>
              <a:tr h="469073">
                <a:tc>
                  <a:txBody>
                    <a:bodyPr/>
                    <a:lstStyle/>
                    <a:p>
                      <a:pPr marL="285750" indent="-285750" algn="ctr" defTabSz="914400" rtl="0" eaLnBrk="1" latinLnBrk="0" hangingPunct="1">
                        <a:buFont typeface="Arial" panose="020B0604020202020204" pitchFamily="34" charset="0"/>
                        <a:buChar char="•"/>
                      </a:pPr>
                      <a:r>
                        <a:rPr lang="en-IN" sz="1600" kern="1200" dirty="0">
                          <a:solidFill>
                            <a:schemeClr val="dk1"/>
                          </a:solidFill>
                        </a:rPr>
                        <a:t>Software Architecture &amp; Modularization</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indent="-285750" algn="l" defTabSz="914400" rtl="0" eaLnBrk="1" latinLnBrk="0" hangingPunct="1">
                        <a:buFont typeface="Arial" panose="020B0604020202020204" pitchFamily="34" charset="0"/>
                        <a:buChar char="•"/>
                      </a:pPr>
                      <a:r>
                        <a:rPr lang="en-US" sz="1400" kern="1200" dirty="0">
                          <a:solidFill>
                            <a:schemeClr val="dk1"/>
                          </a:solidFill>
                        </a:rPr>
                        <a:t>Designed layered architecture (routers → services → database → utils) for clean maintainability.</a:t>
                      </a:r>
                      <a:endParaRPr lang="en-IN" sz="1400" kern="1200" dirty="0">
                        <a:solidFill>
                          <a:schemeClr val="dk1"/>
                        </a:solidFill>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2989569966"/>
                  </a:ext>
                </a:extLst>
              </a:tr>
              <a:tr h="662220">
                <a:tc>
                  <a:txBody>
                    <a:bodyPr/>
                    <a:lstStyle/>
                    <a:p>
                      <a:pPr marL="285750" indent="-285750" algn="ctr" defTabSz="914400" rtl="0" eaLnBrk="1" latinLnBrk="0" hangingPunct="1">
                        <a:buFont typeface="Arial" panose="020B0604020202020204" pitchFamily="34" charset="0"/>
                        <a:buChar char="•"/>
                      </a:pPr>
                      <a:r>
                        <a:rPr lang="en-IN" sz="1600" kern="1200" dirty="0">
                          <a:solidFill>
                            <a:schemeClr val="dk1"/>
                          </a:solidFill>
                        </a:rPr>
                        <a:t>Deployment &amp; Config Management</a:t>
                      </a:r>
                      <a:endParaRPr lang="en-IN" sz="1600" kern="120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indent="-285750" algn="l" defTabSz="914400" rtl="0" eaLnBrk="1" latinLnBrk="0" hangingPunct="1">
                        <a:buFont typeface="Arial" panose="020B0604020202020204" pitchFamily="34" charset="0"/>
                        <a:buChar char="•"/>
                      </a:pPr>
                      <a:r>
                        <a:rPr lang="en-US" sz="1400" kern="1200" dirty="0">
                          <a:solidFill>
                            <a:schemeClr val="dk1"/>
                          </a:solidFill>
                        </a:rPr>
                        <a:t>Configured environment with .env, config.py, and Mongo Atlas connection for real-time database access.</a:t>
                      </a:r>
                      <a:endParaRPr lang="en-IN" sz="1400" kern="1200" dirty="0">
                        <a:solidFill>
                          <a:schemeClr val="dk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1731571417"/>
                  </a:ext>
                </a:extLst>
              </a:tr>
            </a:tbl>
          </a:graphicData>
        </a:graphic>
      </p:graphicFrame>
      <p:sp>
        <p:nvSpPr>
          <p:cNvPr id="7" name="Flowchart: Connector 6">
            <a:extLst>
              <a:ext uri="{FF2B5EF4-FFF2-40B4-BE49-F238E27FC236}">
                <a16:creationId xmlns:a16="http://schemas.microsoft.com/office/drawing/2014/main" id="{A847B6B9-1C0D-508E-ACDD-15D5B0924FBF}"/>
              </a:ext>
            </a:extLst>
          </p:cNvPr>
          <p:cNvSpPr/>
          <p:nvPr/>
        </p:nvSpPr>
        <p:spPr>
          <a:xfrm>
            <a:off x="9470685" y="280830"/>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Connector 7">
            <a:extLst>
              <a:ext uri="{FF2B5EF4-FFF2-40B4-BE49-F238E27FC236}">
                <a16:creationId xmlns:a16="http://schemas.microsoft.com/office/drawing/2014/main" id="{1C12CD12-03A8-EDA8-4ABA-04C32391598F}"/>
              </a:ext>
            </a:extLst>
          </p:cNvPr>
          <p:cNvSpPr/>
          <p:nvPr/>
        </p:nvSpPr>
        <p:spPr>
          <a:xfrm>
            <a:off x="10594634" y="6355351"/>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lowchart: Connector 8">
            <a:extLst>
              <a:ext uri="{FF2B5EF4-FFF2-40B4-BE49-F238E27FC236}">
                <a16:creationId xmlns:a16="http://schemas.microsoft.com/office/drawing/2014/main" id="{DDA4EA5C-6BAC-3F37-333B-CFBB3484A535}"/>
              </a:ext>
            </a:extLst>
          </p:cNvPr>
          <p:cNvSpPr/>
          <p:nvPr/>
        </p:nvSpPr>
        <p:spPr>
          <a:xfrm>
            <a:off x="1113857" y="297515"/>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19248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8E8952-6447-7FD5-2E6E-2C9A776B465B}"/>
              </a:ext>
            </a:extLst>
          </p:cNvPr>
          <p:cNvPicPr>
            <a:picLocks noChangeAspect="1"/>
          </p:cNvPicPr>
          <p:nvPr/>
        </p:nvPicPr>
        <p:blipFill>
          <a:blip r:embed="rId2"/>
          <a:stretch>
            <a:fillRect/>
          </a:stretch>
        </p:blipFill>
        <p:spPr>
          <a:xfrm flipH="1">
            <a:off x="7753433" y="1038048"/>
            <a:ext cx="508823" cy="1891526"/>
          </a:xfrm>
          <a:prstGeom prst="rect">
            <a:avLst/>
          </a:prstGeom>
        </p:spPr>
      </p:pic>
      <p:pic>
        <p:nvPicPr>
          <p:cNvPr id="3" name="Picture 2">
            <a:extLst>
              <a:ext uri="{FF2B5EF4-FFF2-40B4-BE49-F238E27FC236}">
                <a16:creationId xmlns:a16="http://schemas.microsoft.com/office/drawing/2014/main" id="{8E6A3FFC-E4B9-A0A2-1619-74D835EBA74A}"/>
              </a:ext>
            </a:extLst>
          </p:cNvPr>
          <p:cNvPicPr>
            <a:picLocks noChangeAspect="1"/>
          </p:cNvPicPr>
          <p:nvPr/>
        </p:nvPicPr>
        <p:blipFill>
          <a:blip r:embed="rId3"/>
          <a:stretch>
            <a:fillRect/>
          </a:stretch>
        </p:blipFill>
        <p:spPr>
          <a:xfrm>
            <a:off x="9612086" y="4413142"/>
            <a:ext cx="2481944" cy="1231306"/>
          </a:xfrm>
          <a:prstGeom prst="rect">
            <a:avLst/>
          </a:prstGeom>
        </p:spPr>
      </p:pic>
      <p:sp>
        <p:nvSpPr>
          <p:cNvPr id="2" name="Title 1">
            <a:extLst>
              <a:ext uri="{FF2B5EF4-FFF2-40B4-BE49-F238E27FC236}">
                <a16:creationId xmlns:a16="http://schemas.microsoft.com/office/drawing/2014/main" id="{A1750100-FEF5-BD7C-92C7-8354633DF171}"/>
              </a:ext>
            </a:extLst>
          </p:cNvPr>
          <p:cNvSpPr>
            <a:spLocks noGrp="1"/>
          </p:cNvSpPr>
          <p:nvPr>
            <p:ph type="title"/>
          </p:nvPr>
        </p:nvSpPr>
        <p:spPr>
          <a:xfrm>
            <a:off x="839788" y="365126"/>
            <a:ext cx="10515600" cy="823912"/>
          </a:xfrm>
        </p:spPr>
        <p:txBody>
          <a:bodyPr/>
          <a:lstStyle/>
          <a:p>
            <a:pPr algn="ctr"/>
            <a:r>
              <a:rPr lang="en-US" b="1" dirty="0">
                <a:solidFill>
                  <a:schemeClr val="accent1"/>
                </a:solidFill>
                <a:latin typeface="Poppins" panose="00000500000000000000" pitchFamily="2" charset="0"/>
                <a:cs typeface="Poppins" panose="00000500000000000000" pitchFamily="2" charset="0"/>
              </a:rPr>
              <a:t>Objectives</a:t>
            </a:r>
            <a:endParaRPr lang="en-IN" b="1" dirty="0">
              <a:solidFill>
                <a:schemeClr val="accent1"/>
              </a:solidFill>
              <a:latin typeface="Poppins" panose="00000500000000000000" pitchFamily="2" charset="0"/>
              <a:cs typeface="Poppins" panose="00000500000000000000" pitchFamily="2" charset="0"/>
            </a:endParaRPr>
          </a:p>
        </p:txBody>
      </p:sp>
      <p:grpSp>
        <p:nvGrpSpPr>
          <p:cNvPr id="7" name="Group 6">
            <a:extLst>
              <a:ext uri="{FF2B5EF4-FFF2-40B4-BE49-F238E27FC236}">
                <a16:creationId xmlns:a16="http://schemas.microsoft.com/office/drawing/2014/main" id="{CBD50BC3-9F1E-5415-3CA7-63854C3DAE32}"/>
              </a:ext>
            </a:extLst>
          </p:cNvPr>
          <p:cNvGrpSpPr/>
          <p:nvPr/>
        </p:nvGrpSpPr>
        <p:grpSpPr>
          <a:xfrm>
            <a:off x="514920" y="6298380"/>
            <a:ext cx="4886323" cy="388987"/>
            <a:chOff x="618333" y="6026099"/>
            <a:chExt cx="4886323" cy="388987"/>
          </a:xfrm>
        </p:grpSpPr>
        <p:sp>
          <p:nvSpPr>
            <p:cNvPr id="8" name="TextBox 7">
              <a:extLst>
                <a:ext uri="{FF2B5EF4-FFF2-40B4-BE49-F238E27FC236}">
                  <a16:creationId xmlns:a16="http://schemas.microsoft.com/office/drawing/2014/main" id="{3EC404CA-72C8-5424-49AF-B2A71568D90D}"/>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9" name="Graphic 8">
              <a:extLst>
                <a:ext uri="{FF2B5EF4-FFF2-40B4-BE49-F238E27FC236}">
                  <a16:creationId xmlns:a16="http://schemas.microsoft.com/office/drawing/2014/main" id="{B36BB730-BCF5-9796-FD66-B5DD21660A2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8333" y="6026099"/>
              <a:ext cx="353218" cy="388987"/>
            </a:xfrm>
            <a:prstGeom prst="rect">
              <a:avLst/>
            </a:prstGeom>
          </p:spPr>
        </p:pic>
        <p:cxnSp>
          <p:nvCxnSpPr>
            <p:cNvPr id="10" name="Straight Connector 9">
              <a:extLst>
                <a:ext uri="{FF2B5EF4-FFF2-40B4-BE49-F238E27FC236}">
                  <a16:creationId xmlns:a16="http://schemas.microsoft.com/office/drawing/2014/main" id="{766FED14-6DEF-E1A2-4378-D10F9F2A5D0A}"/>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14" name="TextBox 13">
            <a:extLst>
              <a:ext uri="{FF2B5EF4-FFF2-40B4-BE49-F238E27FC236}">
                <a16:creationId xmlns:a16="http://schemas.microsoft.com/office/drawing/2014/main" id="{9656C287-2958-C3E8-4DE4-74F52B7441E1}"/>
              </a:ext>
            </a:extLst>
          </p:cNvPr>
          <p:cNvSpPr txBox="1"/>
          <p:nvPr/>
        </p:nvSpPr>
        <p:spPr>
          <a:xfrm>
            <a:off x="348343" y="1213553"/>
            <a:ext cx="11843657" cy="409342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Develop a secure and scalable event &amp; ticket booking system.</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Enable admins to manage events and venues efficiently.</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Allow users to browse events and book tickets seamlessly.</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For cancel and rejection of seats the seats will roll back to the database</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Implement role-based access and JWT authentication.</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Ensure real-time ticket availability and prevent overbooking.</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Centralize data management with logging and exception handling.</a:t>
            </a:r>
            <a:endParaRPr lang="en-IN" sz="2000" dirty="0">
              <a:latin typeface="Times New Roman" panose="02020603050405020304" pitchFamily="18" charset="0"/>
              <a:cs typeface="Times New Roman" panose="02020603050405020304" pitchFamily="18" charset="0"/>
            </a:endParaRPr>
          </a:p>
        </p:txBody>
      </p:sp>
      <p:pic>
        <p:nvPicPr>
          <p:cNvPr id="1026" name="Picture 2" descr="369+ Thousand Objectives Royalty-Free Images, Stock Photos &amp; Pictures |  Shutterstock">
            <a:extLst>
              <a:ext uri="{FF2B5EF4-FFF2-40B4-BE49-F238E27FC236}">
                <a16:creationId xmlns:a16="http://schemas.microsoft.com/office/drawing/2014/main" id="{1C06E828-FFEA-E555-22F6-1291B76AB1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07844" y="2181284"/>
            <a:ext cx="3995058" cy="2487980"/>
          </a:xfrm>
          <a:prstGeom prst="rect">
            <a:avLst/>
          </a:prstGeom>
          <a:noFill/>
          <a:extLst>
            <a:ext uri="{909E8E84-426E-40DD-AFC4-6F175D3DCCD1}">
              <a14:hiddenFill xmlns:a14="http://schemas.microsoft.com/office/drawing/2010/main">
                <a:solidFill>
                  <a:srgbClr val="FFFFFF"/>
                </a:solidFill>
              </a14:hiddenFill>
            </a:ext>
          </a:extLst>
        </p:spPr>
      </p:pic>
      <p:sp>
        <p:nvSpPr>
          <p:cNvPr id="5" name="Flowchart: Connector 4">
            <a:extLst>
              <a:ext uri="{FF2B5EF4-FFF2-40B4-BE49-F238E27FC236}">
                <a16:creationId xmlns:a16="http://schemas.microsoft.com/office/drawing/2014/main" id="{CEE0760B-8106-ADA3-2C42-D652C515B8C7}"/>
              </a:ext>
            </a:extLst>
          </p:cNvPr>
          <p:cNvSpPr/>
          <p:nvPr/>
        </p:nvSpPr>
        <p:spPr>
          <a:xfrm>
            <a:off x="2017372" y="761139"/>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E0F72FC9-ED36-97B4-6EFE-3991F083F45C}"/>
              </a:ext>
            </a:extLst>
          </p:cNvPr>
          <p:cNvSpPr/>
          <p:nvPr/>
        </p:nvSpPr>
        <p:spPr>
          <a:xfrm>
            <a:off x="10174628" y="781752"/>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lowchart: Connector 10">
            <a:extLst>
              <a:ext uri="{FF2B5EF4-FFF2-40B4-BE49-F238E27FC236}">
                <a16:creationId xmlns:a16="http://schemas.microsoft.com/office/drawing/2014/main" id="{2C7E633C-36BA-8C06-FA34-151CD3D6D606}"/>
              </a:ext>
            </a:extLst>
          </p:cNvPr>
          <p:cNvSpPr/>
          <p:nvPr/>
        </p:nvSpPr>
        <p:spPr>
          <a:xfrm>
            <a:off x="10757920" y="5826468"/>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lowchart: Connector 11">
            <a:extLst>
              <a:ext uri="{FF2B5EF4-FFF2-40B4-BE49-F238E27FC236}">
                <a16:creationId xmlns:a16="http://schemas.microsoft.com/office/drawing/2014/main" id="{7E5E0E18-E444-55FC-B8EB-A2CEE2716277}"/>
              </a:ext>
            </a:extLst>
          </p:cNvPr>
          <p:cNvSpPr/>
          <p:nvPr/>
        </p:nvSpPr>
        <p:spPr>
          <a:xfrm>
            <a:off x="1737972" y="5407173"/>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90280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E734033-4544-7696-21B3-EBBD16D0B1D7}"/>
              </a:ext>
            </a:extLst>
          </p:cNvPr>
          <p:cNvPicPr>
            <a:picLocks noChangeAspect="1"/>
          </p:cNvPicPr>
          <p:nvPr/>
        </p:nvPicPr>
        <p:blipFill>
          <a:blip r:embed="rId2"/>
          <a:stretch>
            <a:fillRect/>
          </a:stretch>
        </p:blipFill>
        <p:spPr>
          <a:xfrm>
            <a:off x="10557136" y="4413142"/>
            <a:ext cx="1015602" cy="745280"/>
          </a:xfrm>
          <a:prstGeom prst="rect">
            <a:avLst/>
          </a:prstGeom>
        </p:spPr>
      </p:pic>
      <p:grpSp>
        <p:nvGrpSpPr>
          <p:cNvPr id="19" name="Group 18">
            <a:extLst>
              <a:ext uri="{FF2B5EF4-FFF2-40B4-BE49-F238E27FC236}">
                <a16:creationId xmlns:a16="http://schemas.microsoft.com/office/drawing/2014/main" id="{B47C530F-4ED7-72C4-DFBA-E6FD67E21A17}"/>
              </a:ext>
            </a:extLst>
          </p:cNvPr>
          <p:cNvGrpSpPr/>
          <p:nvPr/>
        </p:nvGrpSpPr>
        <p:grpSpPr>
          <a:xfrm>
            <a:off x="514919" y="6263519"/>
            <a:ext cx="4886323" cy="388987"/>
            <a:chOff x="618333" y="6026099"/>
            <a:chExt cx="4886323" cy="388987"/>
          </a:xfrm>
        </p:grpSpPr>
        <p:sp>
          <p:nvSpPr>
            <p:cNvPr id="6" name="TextBox 5">
              <a:extLst>
                <a:ext uri="{FF2B5EF4-FFF2-40B4-BE49-F238E27FC236}">
                  <a16:creationId xmlns:a16="http://schemas.microsoft.com/office/drawing/2014/main" id="{B525DA37-D2EF-5A47-E272-8EB9966562F5}"/>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8" name="Graphic 7">
              <a:extLst>
                <a:ext uri="{FF2B5EF4-FFF2-40B4-BE49-F238E27FC236}">
                  <a16:creationId xmlns:a16="http://schemas.microsoft.com/office/drawing/2014/main" id="{DE79119C-F5D0-516F-2119-6EC753D6B60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10" name="Straight Connector 9">
              <a:extLst>
                <a:ext uri="{FF2B5EF4-FFF2-40B4-BE49-F238E27FC236}">
                  <a16:creationId xmlns:a16="http://schemas.microsoft.com/office/drawing/2014/main" id="{1CA5A2F2-FE45-7F32-05D2-A11066819A95}"/>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14" name="TextBox 13">
            <a:extLst>
              <a:ext uri="{FF2B5EF4-FFF2-40B4-BE49-F238E27FC236}">
                <a16:creationId xmlns:a16="http://schemas.microsoft.com/office/drawing/2014/main" id="{FBD6280C-B1AC-E4E9-D7B9-00506334F729}"/>
              </a:ext>
            </a:extLst>
          </p:cNvPr>
          <p:cNvSpPr txBox="1"/>
          <p:nvPr/>
        </p:nvSpPr>
        <p:spPr>
          <a:xfrm>
            <a:off x="2439871" y="399987"/>
            <a:ext cx="6658767" cy="605807"/>
          </a:xfrm>
          <a:prstGeom prst="rect">
            <a:avLst/>
          </a:prstGeom>
          <a:noFill/>
        </p:spPr>
        <p:txBody>
          <a:bodyPr wrap="square" rtlCol="0">
            <a:spAutoFit/>
          </a:bodyPr>
          <a:lstStyle/>
          <a:p>
            <a:pPr algn="ctr">
              <a:lnSpc>
                <a:spcPct val="70000"/>
              </a:lnSpc>
            </a:pPr>
            <a:r>
              <a:rPr lang="en-US" sz="4400" b="1" spc="-300" dirty="0">
                <a:solidFill>
                  <a:schemeClr val="accent1"/>
                </a:solidFill>
                <a:latin typeface="Poppins" panose="00000500000000000000" pitchFamily="2" charset="0"/>
                <a:cs typeface="Poppins" panose="00000500000000000000" pitchFamily="2" charset="0"/>
              </a:rPr>
              <a:t>Problem</a:t>
            </a:r>
            <a:r>
              <a:rPr lang="en-US" sz="4400" b="1" spc="-300" dirty="0">
                <a:solidFill>
                  <a:srgbClr val="1B134C"/>
                </a:solidFill>
                <a:latin typeface="Poppins" panose="00000500000000000000" pitchFamily="2" charset="0"/>
                <a:cs typeface="Poppins" panose="00000500000000000000" pitchFamily="2" charset="0"/>
              </a:rPr>
              <a:t> </a:t>
            </a:r>
            <a:r>
              <a:rPr lang="en-US" sz="4400" b="1" spc="-300" dirty="0">
                <a:solidFill>
                  <a:schemeClr val="accent1"/>
                </a:solidFill>
                <a:latin typeface="Poppins" panose="00000500000000000000" pitchFamily="2" charset="0"/>
                <a:cs typeface="Poppins" panose="00000500000000000000" pitchFamily="2" charset="0"/>
              </a:rPr>
              <a:t>Statement</a:t>
            </a:r>
          </a:p>
        </p:txBody>
      </p:sp>
      <p:sp>
        <p:nvSpPr>
          <p:cNvPr id="4" name="TextBox 3">
            <a:extLst>
              <a:ext uri="{FF2B5EF4-FFF2-40B4-BE49-F238E27FC236}">
                <a16:creationId xmlns:a16="http://schemas.microsoft.com/office/drawing/2014/main" id="{6AD72154-01FB-8EF3-83D3-87E5797EF349}"/>
              </a:ext>
            </a:extLst>
          </p:cNvPr>
          <p:cNvSpPr txBox="1"/>
          <p:nvPr/>
        </p:nvSpPr>
        <p:spPr>
          <a:xfrm>
            <a:off x="315689" y="1118444"/>
            <a:ext cx="11723912" cy="5016758"/>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Managing events and ticket bookings manually is inefficient, error-prone, and lacks transparency. Existing systems often fail to provides: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CRUD operations of Admin and Users accounts (Create, Update, Read, Delete)</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Secure authentication for users and admins.</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seat availability tracking.</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Centralized management of events, venues, and bookings.</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Scalability to handle multiple users and concurrent bookings.</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need for a digital, secure, and scalable event ticket booking system that streamlines event creation, venue management, and ticket reservations while ensuring a smooth experience for both users and administrators.</a:t>
            </a:r>
          </a:p>
        </p:txBody>
      </p:sp>
      <p:pic>
        <p:nvPicPr>
          <p:cNvPr id="5" name="Picture 4">
            <a:extLst>
              <a:ext uri="{FF2B5EF4-FFF2-40B4-BE49-F238E27FC236}">
                <a16:creationId xmlns:a16="http://schemas.microsoft.com/office/drawing/2014/main" id="{67BE536A-5B51-C4D2-BD2F-45D63664F71A}"/>
              </a:ext>
            </a:extLst>
          </p:cNvPr>
          <p:cNvPicPr>
            <a:picLocks noChangeAspect="1"/>
          </p:cNvPicPr>
          <p:nvPr/>
        </p:nvPicPr>
        <p:blipFill>
          <a:blip r:embed="rId5"/>
          <a:stretch>
            <a:fillRect/>
          </a:stretch>
        </p:blipFill>
        <p:spPr>
          <a:xfrm>
            <a:off x="9276841" y="1699578"/>
            <a:ext cx="2035628" cy="3124201"/>
          </a:xfrm>
          <a:prstGeom prst="rect">
            <a:avLst/>
          </a:prstGeom>
        </p:spPr>
      </p:pic>
      <p:pic>
        <p:nvPicPr>
          <p:cNvPr id="3" name="Picture 2">
            <a:extLst>
              <a:ext uri="{FF2B5EF4-FFF2-40B4-BE49-F238E27FC236}">
                <a16:creationId xmlns:a16="http://schemas.microsoft.com/office/drawing/2014/main" id="{8EB3373D-DE09-3F58-2F26-2CCA7A7569CB}"/>
              </a:ext>
            </a:extLst>
          </p:cNvPr>
          <p:cNvPicPr>
            <a:picLocks noChangeAspect="1"/>
          </p:cNvPicPr>
          <p:nvPr/>
        </p:nvPicPr>
        <p:blipFill>
          <a:blip r:embed="rId6"/>
          <a:stretch>
            <a:fillRect/>
          </a:stretch>
        </p:blipFill>
        <p:spPr>
          <a:xfrm>
            <a:off x="9141193" y="1525317"/>
            <a:ext cx="271296" cy="1284514"/>
          </a:xfrm>
          <a:prstGeom prst="rect">
            <a:avLst/>
          </a:prstGeom>
        </p:spPr>
      </p:pic>
      <p:sp>
        <p:nvSpPr>
          <p:cNvPr id="7" name="Flowchart: Connector 6">
            <a:extLst>
              <a:ext uri="{FF2B5EF4-FFF2-40B4-BE49-F238E27FC236}">
                <a16:creationId xmlns:a16="http://schemas.microsoft.com/office/drawing/2014/main" id="{E64A2A52-EB81-DEBF-4066-E56E65AA53E4}"/>
              </a:ext>
            </a:extLst>
          </p:cNvPr>
          <p:cNvSpPr/>
          <p:nvPr/>
        </p:nvSpPr>
        <p:spPr>
          <a:xfrm>
            <a:off x="9752129" y="506898"/>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lowchart: Connector 8">
            <a:extLst>
              <a:ext uri="{FF2B5EF4-FFF2-40B4-BE49-F238E27FC236}">
                <a16:creationId xmlns:a16="http://schemas.microsoft.com/office/drawing/2014/main" id="{9562271B-78B9-79CF-2A5C-922C6E640A54}"/>
              </a:ext>
            </a:extLst>
          </p:cNvPr>
          <p:cNvSpPr/>
          <p:nvPr/>
        </p:nvSpPr>
        <p:spPr>
          <a:xfrm>
            <a:off x="2532629" y="5887128"/>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lowchart: Connector 10">
            <a:extLst>
              <a:ext uri="{FF2B5EF4-FFF2-40B4-BE49-F238E27FC236}">
                <a16:creationId xmlns:a16="http://schemas.microsoft.com/office/drawing/2014/main" id="{9EE6AFB0-634A-35EA-95DB-7E51558E08AB}"/>
              </a:ext>
            </a:extLst>
          </p:cNvPr>
          <p:cNvSpPr/>
          <p:nvPr/>
        </p:nvSpPr>
        <p:spPr>
          <a:xfrm>
            <a:off x="9276841" y="6145159"/>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lowchart: Connector 11">
            <a:extLst>
              <a:ext uri="{FF2B5EF4-FFF2-40B4-BE49-F238E27FC236}">
                <a16:creationId xmlns:a16="http://schemas.microsoft.com/office/drawing/2014/main" id="{F7FC5F21-0226-46B1-AD69-69AD912F40BB}"/>
              </a:ext>
            </a:extLst>
          </p:cNvPr>
          <p:cNvSpPr/>
          <p:nvPr/>
        </p:nvSpPr>
        <p:spPr>
          <a:xfrm>
            <a:off x="1919401" y="977579"/>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68749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2693F01-0E62-B49A-850B-A609F107BA4F}"/>
              </a:ext>
            </a:extLst>
          </p:cNvPr>
          <p:cNvSpPr txBox="1"/>
          <p:nvPr/>
        </p:nvSpPr>
        <p:spPr>
          <a:xfrm>
            <a:off x="370114" y="920621"/>
            <a:ext cx="11821886" cy="5324535"/>
          </a:xfrm>
          <a:prstGeom prst="rect">
            <a:avLst/>
          </a:prstGeom>
          <a:noFill/>
        </p:spPr>
        <p:txBody>
          <a:bodyPr wrap="square">
            <a:spAutoFit/>
          </a:bodyPr>
          <a:lstStyle/>
          <a:p>
            <a:pPr marL="457200" indent="-4572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Event &amp; Ticket Booking System is a web-based application developed to automate and simplify the process of managing events and ticket reservations. It serves as a centralized platform for both event organizers (admins) and participants (users), ensuring efficient, secure, and real-time operations.</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Key Highlights:</a:t>
            </a:r>
          </a:p>
          <a:p>
            <a:pPr marL="342900" indent="-342900">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Role-Based System:</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Admins: Can register, log in, create and manage events, approve venues, and monitor user activity.</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Can register, log in, browse events, book tickets, and manage their bookings.</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Technology Stack:</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Backend: </a:t>
            </a:r>
            <a:r>
              <a:rPr lang="en-US" sz="2000" dirty="0" err="1">
                <a:latin typeface="Times New Roman" panose="02020603050405020304" pitchFamily="18" charset="0"/>
                <a:cs typeface="Times New Roman" panose="02020603050405020304" pitchFamily="18" charset="0"/>
              </a:rPr>
              <a:t>FastAPI</a:t>
            </a:r>
            <a:r>
              <a:rPr lang="en-US" sz="2000" dirty="0">
                <a:latin typeface="Times New Roman" panose="02020603050405020304" pitchFamily="18" charset="0"/>
                <a:cs typeface="Times New Roman" panose="02020603050405020304" pitchFamily="18" charset="0"/>
              </a:rPr>
              <a:t> – for high-performance, asynchronous API development</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Database: MongoDB (async with Motor) – for scalable, non-blocking data storage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Authentication &amp; Security: JWT-based authentication and password hashing with </a:t>
            </a:r>
            <a:r>
              <a:rPr lang="en-US" sz="2000" dirty="0" err="1">
                <a:latin typeface="Times New Roman" panose="02020603050405020304" pitchFamily="18" charset="0"/>
                <a:cs typeface="Times New Roman" panose="02020603050405020304" pitchFamily="18" charset="0"/>
              </a:rPr>
              <a:t>Passlib</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Functionalities: </a:t>
            </a:r>
            <a:r>
              <a:rPr lang="en-US" sz="2000" dirty="0">
                <a:latin typeface="Times New Roman" panose="02020603050405020304" pitchFamily="18" charset="0"/>
                <a:cs typeface="Times New Roman" panose="02020603050405020304" pitchFamily="18" charset="0"/>
              </a:rPr>
              <a:t>Centralized management of events, venues, and bookings .Real-time seat availability to prevent overbooking .Secure login and role-based access </a:t>
            </a:r>
            <a:r>
              <a:rPr lang="en-US" sz="2000" dirty="0" err="1">
                <a:latin typeface="Times New Roman" panose="02020603050405020304" pitchFamily="18" charset="0"/>
                <a:cs typeface="Times New Roman" panose="02020603050405020304" pitchFamily="18" charset="0"/>
              </a:rPr>
              <a:t>control.Logging</a:t>
            </a:r>
            <a:r>
              <a:rPr lang="en-US" sz="2000" dirty="0">
                <a:latin typeface="Times New Roman" panose="02020603050405020304" pitchFamily="18" charset="0"/>
                <a:cs typeface="Times New Roman" panose="02020603050405020304" pitchFamily="18" charset="0"/>
              </a:rPr>
              <a:t> and exception handling for maintainability .Modular architecture separating routers, services, models, and utilities</a:t>
            </a: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0A4D87A0-FFFC-D410-0D46-64B5F4FF0288}"/>
              </a:ext>
            </a:extLst>
          </p:cNvPr>
          <p:cNvSpPr txBox="1"/>
          <p:nvPr/>
        </p:nvSpPr>
        <p:spPr>
          <a:xfrm>
            <a:off x="3233057" y="151180"/>
            <a:ext cx="6096000" cy="769441"/>
          </a:xfrm>
          <a:prstGeom prst="rect">
            <a:avLst/>
          </a:prstGeom>
          <a:noFill/>
        </p:spPr>
        <p:txBody>
          <a:bodyPr wrap="square">
            <a:spAutoFit/>
          </a:bodyPr>
          <a:lstStyle/>
          <a:p>
            <a:r>
              <a:rPr lang="en-IN" sz="4400" b="1" dirty="0">
                <a:solidFill>
                  <a:schemeClr val="accent1"/>
                </a:solidFill>
                <a:latin typeface="Poppins" panose="00000500000000000000" pitchFamily="2" charset="0"/>
                <a:cs typeface="Poppins" panose="00000500000000000000" pitchFamily="2" charset="0"/>
              </a:rPr>
              <a:t>Project Overview</a:t>
            </a:r>
          </a:p>
        </p:txBody>
      </p:sp>
      <p:pic>
        <p:nvPicPr>
          <p:cNvPr id="13" name="Picture 12">
            <a:extLst>
              <a:ext uri="{FF2B5EF4-FFF2-40B4-BE49-F238E27FC236}">
                <a16:creationId xmlns:a16="http://schemas.microsoft.com/office/drawing/2014/main" id="{E02EA27C-AFA3-7242-9E09-96CA51079B10}"/>
              </a:ext>
            </a:extLst>
          </p:cNvPr>
          <p:cNvPicPr>
            <a:picLocks noChangeAspect="1"/>
          </p:cNvPicPr>
          <p:nvPr/>
        </p:nvPicPr>
        <p:blipFill>
          <a:blip r:embed="rId2"/>
          <a:stretch>
            <a:fillRect/>
          </a:stretch>
        </p:blipFill>
        <p:spPr>
          <a:xfrm>
            <a:off x="370114" y="6412953"/>
            <a:ext cx="4883319" cy="445047"/>
          </a:xfrm>
          <a:prstGeom prst="rect">
            <a:avLst/>
          </a:prstGeom>
        </p:spPr>
      </p:pic>
      <p:sp>
        <p:nvSpPr>
          <p:cNvPr id="2" name="Flowchart: Connector 1">
            <a:extLst>
              <a:ext uri="{FF2B5EF4-FFF2-40B4-BE49-F238E27FC236}">
                <a16:creationId xmlns:a16="http://schemas.microsoft.com/office/drawing/2014/main" id="{5002E233-DE8C-A875-75CB-E45599EC5D37}"/>
              </a:ext>
            </a:extLst>
          </p:cNvPr>
          <p:cNvSpPr/>
          <p:nvPr/>
        </p:nvSpPr>
        <p:spPr>
          <a:xfrm>
            <a:off x="9828329" y="488821"/>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lowchart: Connector 2">
            <a:extLst>
              <a:ext uri="{FF2B5EF4-FFF2-40B4-BE49-F238E27FC236}">
                <a16:creationId xmlns:a16="http://schemas.microsoft.com/office/drawing/2014/main" id="{98B5C3AD-C862-F3FD-3192-109C15779797}"/>
              </a:ext>
            </a:extLst>
          </p:cNvPr>
          <p:cNvSpPr/>
          <p:nvPr/>
        </p:nvSpPr>
        <p:spPr>
          <a:xfrm>
            <a:off x="10845006" y="5969068"/>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CCA6C86E-E0A7-0DCA-5083-29B4C9777B8F}"/>
              </a:ext>
            </a:extLst>
          </p:cNvPr>
          <p:cNvSpPr/>
          <p:nvPr/>
        </p:nvSpPr>
        <p:spPr>
          <a:xfrm>
            <a:off x="2672073" y="6245156"/>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A8C1EAD2-11A9-8C25-9E86-497F21B813A0}"/>
              </a:ext>
            </a:extLst>
          </p:cNvPr>
          <p:cNvSpPr/>
          <p:nvPr/>
        </p:nvSpPr>
        <p:spPr>
          <a:xfrm>
            <a:off x="1456746" y="497897"/>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1F4E1108-FC3A-AE2F-96AB-066EEFAB1F17}"/>
              </a:ext>
            </a:extLst>
          </p:cNvPr>
          <p:cNvSpPr/>
          <p:nvPr/>
        </p:nvSpPr>
        <p:spPr>
          <a:xfrm>
            <a:off x="10444473" y="3416197"/>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Connector 6">
            <a:extLst>
              <a:ext uri="{FF2B5EF4-FFF2-40B4-BE49-F238E27FC236}">
                <a16:creationId xmlns:a16="http://schemas.microsoft.com/office/drawing/2014/main" id="{6BA3CB30-5C93-B595-C358-8C9B38ECF167}"/>
              </a:ext>
            </a:extLst>
          </p:cNvPr>
          <p:cNvSpPr/>
          <p:nvPr/>
        </p:nvSpPr>
        <p:spPr>
          <a:xfrm>
            <a:off x="8445375" y="2435555"/>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20632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F6E3D-90CA-2EBE-7C8E-001562A3AA15}"/>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151FECEB-29BF-126F-20BF-AFDCDA282DC4}"/>
              </a:ext>
            </a:extLst>
          </p:cNvPr>
          <p:cNvGrpSpPr/>
          <p:nvPr/>
        </p:nvGrpSpPr>
        <p:grpSpPr>
          <a:xfrm>
            <a:off x="482262" y="6312179"/>
            <a:ext cx="4886323" cy="388987"/>
            <a:chOff x="618333" y="6026099"/>
            <a:chExt cx="4886323" cy="388987"/>
          </a:xfrm>
        </p:grpSpPr>
        <p:sp>
          <p:nvSpPr>
            <p:cNvPr id="6" name="TextBox 5">
              <a:extLst>
                <a:ext uri="{FF2B5EF4-FFF2-40B4-BE49-F238E27FC236}">
                  <a16:creationId xmlns:a16="http://schemas.microsoft.com/office/drawing/2014/main" id="{E582B456-072A-66F0-2D39-72215B91CA16}"/>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8" name="Graphic 7">
              <a:extLst>
                <a:ext uri="{FF2B5EF4-FFF2-40B4-BE49-F238E27FC236}">
                  <a16:creationId xmlns:a16="http://schemas.microsoft.com/office/drawing/2014/main" id="{3C9AF903-9BB1-5F02-0401-99549E245A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10" name="Straight Connector 9">
              <a:extLst>
                <a:ext uri="{FF2B5EF4-FFF2-40B4-BE49-F238E27FC236}">
                  <a16:creationId xmlns:a16="http://schemas.microsoft.com/office/drawing/2014/main" id="{6914A765-4E74-B4F9-FFA6-42E72404E00A}"/>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12" name="TextBox 11">
            <a:extLst>
              <a:ext uri="{FF2B5EF4-FFF2-40B4-BE49-F238E27FC236}">
                <a16:creationId xmlns:a16="http://schemas.microsoft.com/office/drawing/2014/main" id="{1F990FC0-4D8C-61E5-2EDF-5BC4C2680775}"/>
              </a:ext>
            </a:extLst>
          </p:cNvPr>
          <p:cNvSpPr txBox="1"/>
          <p:nvPr/>
        </p:nvSpPr>
        <p:spPr>
          <a:xfrm>
            <a:off x="402770" y="704383"/>
            <a:ext cx="11582399" cy="5293757"/>
          </a:xfrm>
          <a:prstGeom prst="rect">
            <a:avLst/>
          </a:prstGeom>
          <a:noFill/>
        </p:spPr>
        <p:txBody>
          <a:bodyPr wrap="square" rtlCol="0">
            <a:spAutoFit/>
          </a:bodyPr>
          <a:lstStyle/>
          <a:p>
            <a:r>
              <a:rPr lang="en-US" sz="2000" dirty="0">
                <a:solidFill>
                  <a:srgbClr val="1B134C"/>
                </a:solidFill>
                <a:latin typeface="Times New Roman" panose="02020603050405020304" pitchFamily="18" charset="0"/>
                <a:cs typeface="Times New Roman" panose="02020603050405020304" pitchFamily="18" charset="0"/>
              </a:rPr>
              <a:t>To address the challenges of manual event management and ticket booking, the Event &amp; Ticket Booking System proposes a digital, secure, and scalable solution that streamlines the entire process for both administrators and users.</a:t>
            </a:r>
          </a:p>
          <a:p>
            <a:endParaRPr lang="en-US" sz="2000" dirty="0">
              <a:solidFill>
                <a:srgbClr val="1B134C"/>
              </a:solidFill>
              <a:latin typeface="Times New Roman" panose="02020603050405020304" pitchFamily="18" charset="0"/>
              <a:cs typeface="Times New Roman" panose="02020603050405020304" pitchFamily="18" charset="0"/>
            </a:endParaRPr>
          </a:p>
          <a:p>
            <a:r>
              <a:rPr lang="en-US" sz="2000" b="1" dirty="0">
                <a:solidFill>
                  <a:srgbClr val="1B134C"/>
                </a:solidFill>
                <a:latin typeface="Times New Roman" panose="02020603050405020304" pitchFamily="18" charset="0"/>
                <a:cs typeface="Times New Roman" panose="02020603050405020304" pitchFamily="18" charset="0"/>
              </a:rPr>
              <a:t>Key Elements of the Solution</a:t>
            </a:r>
            <a:r>
              <a:rPr lang="en-US" sz="2000" dirty="0">
                <a:solidFill>
                  <a:srgbClr val="1B134C"/>
                </a:solidFill>
                <a:latin typeface="Times New Roman" panose="02020603050405020304" pitchFamily="18" charset="0"/>
                <a:cs typeface="Times New Roman" panose="02020603050405020304" pitchFamily="18" charset="0"/>
              </a:rPr>
              <a:t>:</a:t>
            </a:r>
          </a:p>
          <a:p>
            <a:endParaRPr lang="en-US" sz="2000" dirty="0">
              <a:solidFill>
                <a:srgbClr val="1B134C"/>
              </a:solidFill>
              <a:latin typeface="Times New Roman" panose="02020603050405020304" pitchFamily="18" charset="0"/>
              <a:cs typeface="Times New Roman" panose="02020603050405020304" pitchFamily="18" charset="0"/>
            </a:endParaRPr>
          </a:p>
          <a:p>
            <a:r>
              <a:rPr lang="en-US" sz="2000" b="1" dirty="0">
                <a:solidFill>
                  <a:srgbClr val="1B134C"/>
                </a:solidFill>
                <a:latin typeface="Times New Roman" panose="02020603050405020304" pitchFamily="18" charset="0"/>
                <a:cs typeface="Times New Roman" panose="02020603050405020304" pitchFamily="18" charset="0"/>
              </a:rPr>
              <a:t>1. Role-Based Access Control:</a:t>
            </a:r>
          </a:p>
          <a:p>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   Admins and users have distinct functionalities.</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   Ensures that only authorized personnel can create/manage events or approve venues.</a:t>
            </a:r>
          </a:p>
          <a:p>
            <a:endParaRPr lang="en-US" sz="2000" dirty="0">
              <a:solidFill>
                <a:srgbClr val="1B134C"/>
              </a:solidFill>
              <a:latin typeface="Times New Roman" panose="02020603050405020304" pitchFamily="18" charset="0"/>
              <a:cs typeface="Times New Roman" panose="02020603050405020304" pitchFamily="18" charset="0"/>
            </a:endParaRPr>
          </a:p>
          <a:p>
            <a:r>
              <a:rPr lang="en-US" sz="2000" b="1" dirty="0">
                <a:solidFill>
                  <a:srgbClr val="1B134C"/>
                </a:solidFill>
                <a:latin typeface="Times New Roman" panose="02020603050405020304" pitchFamily="18" charset="0"/>
                <a:cs typeface="Times New Roman" panose="02020603050405020304" pitchFamily="18" charset="0"/>
              </a:rPr>
              <a:t>2. Automated Event and Ticket Management:</a:t>
            </a:r>
          </a:p>
          <a:p>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    Admins can create, update, and delete events.</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    Users can browse events, view details, and book tickets online.</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    Real-time seat availability prevents overbooking and ensures smooth booking.</a:t>
            </a:r>
          </a:p>
          <a:p>
            <a:endParaRPr lang="en-US" dirty="0">
              <a:solidFill>
                <a:srgbClr val="1B134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1F39F13-5937-CA84-6E9F-9DA06F701EDF}"/>
              </a:ext>
            </a:extLst>
          </p:cNvPr>
          <p:cNvSpPr txBox="1"/>
          <p:nvPr/>
        </p:nvSpPr>
        <p:spPr>
          <a:xfrm>
            <a:off x="2461908" y="156834"/>
            <a:ext cx="6314095" cy="605807"/>
          </a:xfrm>
          <a:prstGeom prst="rect">
            <a:avLst/>
          </a:prstGeom>
          <a:noFill/>
        </p:spPr>
        <p:txBody>
          <a:bodyPr wrap="square" rtlCol="0">
            <a:spAutoFit/>
          </a:bodyPr>
          <a:lstStyle/>
          <a:p>
            <a:pPr algn="ctr">
              <a:lnSpc>
                <a:spcPct val="70000"/>
              </a:lnSpc>
            </a:pPr>
            <a:r>
              <a:rPr lang="en-US" sz="4400" b="1" spc="-300" dirty="0">
                <a:solidFill>
                  <a:schemeClr val="accent1"/>
                </a:solidFill>
                <a:latin typeface="Poppins" panose="00000500000000000000" pitchFamily="2" charset="0"/>
                <a:cs typeface="Poppins" panose="00000500000000000000" pitchFamily="2" charset="0"/>
              </a:rPr>
              <a:t>Proposed Solution</a:t>
            </a:r>
          </a:p>
        </p:txBody>
      </p:sp>
      <p:sp>
        <p:nvSpPr>
          <p:cNvPr id="2" name="Flowchart: Connector 1">
            <a:extLst>
              <a:ext uri="{FF2B5EF4-FFF2-40B4-BE49-F238E27FC236}">
                <a16:creationId xmlns:a16="http://schemas.microsoft.com/office/drawing/2014/main" id="{7654590E-0101-A736-5620-A50AAF951021}"/>
              </a:ext>
            </a:extLst>
          </p:cNvPr>
          <p:cNvSpPr/>
          <p:nvPr/>
        </p:nvSpPr>
        <p:spPr>
          <a:xfrm>
            <a:off x="10812349" y="5782240"/>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lowchart: Connector 2">
            <a:extLst>
              <a:ext uri="{FF2B5EF4-FFF2-40B4-BE49-F238E27FC236}">
                <a16:creationId xmlns:a16="http://schemas.microsoft.com/office/drawing/2014/main" id="{F2EA2088-44AB-BAAF-6B39-3EFACE41720A}"/>
              </a:ext>
            </a:extLst>
          </p:cNvPr>
          <p:cNvSpPr/>
          <p:nvPr/>
        </p:nvSpPr>
        <p:spPr>
          <a:xfrm>
            <a:off x="9948786" y="233292"/>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2DD1A2EF-DCA3-96CA-092A-D03DF3FC6762}"/>
              </a:ext>
            </a:extLst>
          </p:cNvPr>
          <p:cNvSpPr/>
          <p:nvPr/>
        </p:nvSpPr>
        <p:spPr>
          <a:xfrm>
            <a:off x="1202446" y="563518"/>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F930EEE5-BE15-5F16-1E0A-81F8673EE6C9}"/>
              </a:ext>
            </a:extLst>
          </p:cNvPr>
          <p:cNvSpPr/>
          <p:nvPr/>
        </p:nvSpPr>
        <p:spPr>
          <a:xfrm>
            <a:off x="2532629" y="5887128"/>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74" name="Picture 2" descr="cdn5.vectorstock.com/i/1000x1000/74/59/proposed-so...">
            <a:extLst>
              <a:ext uri="{FF2B5EF4-FFF2-40B4-BE49-F238E27FC236}">
                <a16:creationId xmlns:a16="http://schemas.microsoft.com/office/drawing/2014/main" id="{061C4966-EBE9-BEB1-2E51-5461D6E8E2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3132" y="1665761"/>
            <a:ext cx="2696141" cy="1763239"/>
          </a:xfrm>
          <a:prstGeom prst="rect">
            <a:avLst/>
          </a:prstGeom>
          <a:noFill/>
          <a:extLst>
            <a:ext uri="{909E8E84-426E-40DD-AFC4-6F175D3DCCD1}">
              <a14:hiddenFill xmlns:a14="http://schemas.microsoft.com/office/drawing/2010/main">
                <a:solidFill>
                  <a:srgbClr val="FFFFFF"/>
                </a:solidFill>
              </a14:hiddenFill>
            </a:ext>
          </a:extLst>
        </p:spPr>
      </p:pic>
      <p:sp>
        <p:nvSpPr>
          <p:cNvPr id="7" name="Flowchart: Connector 6">
            <a:extLst>
              <a:ext uri="{FF2B5EF4-FFF2-40B4-BE49-F238E27FC236}">
                <a16:creationId xmlns:a16="http://schemas.microsoft.com/office/drawing/2014/main" id="{F38EB4F8-24FF-B688-D2DA-B722D42BD5B8}"/>
              </a:ext>
            </a:extLst>
          </p:cNvPr>
          <p:cNvSpPr/>
          <p:nvPr/>
        </p:nvSpPr>
        <p:spPr>
          <a:xfrm>
            <a:off x="10487960" y="3861602"/>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1266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C642E9-7D45-DDAF-E37D-5492CB7BB50A}"/>
              </a:ext>
            </a:extLst>
          </p:cNvPr>
          <p:cNvSpPr txBox="1"/>
          <p:nvPr/>
        </p:nvSpPr>
        <p:spPr>
          <a:xfrm>
            <a:off x="185057" y="174401"/>
            <a:ext cx="11821886" cy="5940088"/>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3. Secure Authentication:</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JWT-based authentication ensures secure login and session management.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Passwords are hashed using </a:t>
            </a:r>
            <a:r>
              <a:rPr lang="en-US" sz="2000" dirty="0" err="1">
                <a:latin typeface="Times New Roman" panose="02020603050405020304" pitchFamily="18" charset="0"/>
                <a:cs typeface="Times New Roman" panose="02020603050405020304" pitchFamily="18" charset="0"/>
              </a:rPr>
              <a:t>Passlib</a:t>
            </a:r>
            <a:r>
              <a:rPr lang="en-US" sz="2000" dirty="0">
                <a:latin typeface="Times New Roman" panose="02020603050405020304" pitchFamily="18" charset="0"/>
                <a:cs typeface="Times New Roman" panose="02020603050405020304" pitchFamily="18" charset="0"/>
              </a:rPr>
              <a:t> for data protection.</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4.Centralized and Scalable Database:</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MongoDB (async with Motor) allows efficient data storage and retrieval.</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Structured collections for users, events, venues, and bookings ensure organized data.</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Supports multiple concurrent users and large-scale events.</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5. Modular and Maintainable Architecture:</a:t>
            </a:r>
          </a:p>
          <a:p>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Separation of routers, services, models, and utilities.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Centralized logging and exception handling for easy monitoring and debugging.</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6. User-Friendly Interface:</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Simple browsing, searching, and booking process for users.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Smooth, seamless experience for event organizers and attendees.</a:t>
            </a:r>
            <a:endParaRPr lang="en-IN" sz="2000" dirty="0">
              <a:latin typeface="Times New Roman" panose="02020603050405020304" pitchFamily="18" charset="0"/>
              <a:cs typeface="Times New Roman" panose="02020603050405020304" pitchFamily="18" charset="0"/>
            </a:endParaRPr>
          </a:p>
        </p:txBody>
      </p:sp>
      <p:grpSp>
        <p:nvGrpSpPr>
          <p:cNvPr id="6" name="Group 5">
            <a:extLst>
              <a:ext uri="{FF2B5EF4-FFF2-40B4-BE49-F238E27FC236}">
                <a16:creationId xmlns:a16="http://schemas.microsoft.com/office/drawing/2014/main" id="{0E882918-D3D5-6524-83B6-E7A0752C932F}"/>
              </a:ext>
            </a:extLst>
          </p:cNvPr>
          <p:cNvGrpSpPr/>
          <p:nvPr/>
        </p:nvGrpSpPr>
        <p:grpSpPr>
          <a:xfrm>
            <a:off x="185057" y="6268694"/>
            <a:ext cx="4973409" cy="414905"/>
            <a:chOff x="531247" y="6000181"/>
            <a:chExt cx="4973409" cy="414905"/>
          </a:xfrm>
        </p:grpSpPr>
        <p:sp>
          <p:nvSpPr>
            <p:cNvPr id="7" name="TextBox 6">
              <a:extLst>
                <a:ext uri="{FF2B5EF4-FFF2-40B4-BE49-F238E27FC236}">
                  <a16:creationId xmlns:a16="http://schemas.microsoft.com/office/drawing/2014/main" id="{F7CCC68F-161B-1CAE-CCE4-CA12A4132B6F}"/>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8" name="Graphic 7">
              <a:extLst>
                <a:ext uri="{FF2B5EF4-FFF2-40B4-BE49-F238E27FC236}">
                  <a16:creationId xmlns:a16="http://schemas.microsoft.com/office/drawing/2014/main" id="{9681BC87-90C3-F8F9-DD53-EAC2872DA8F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47" y="6000181"/>
              <a:ext cx="353218" cy="388987"/>
            </a:xfrm>
            <a:prstGeom prst="rect">
              <a:avLst/>
            </a:prstGeom>
          </p:spPr>
        </p:pic>
        <p:cxnSp>
          <p:nvCxnSpPr>
            <p:cNvPr id="9" name="Straight Connector 8">
              <a:extLst>
                <a:ext uri="{FF2B5EF4-FFF2-40B4-BE49-F238E27FC236}">
                  <a16:creationId xmlns:a16="http://schemas.microsoft.com/office/drawing/2014/main" id="{31FAF1F1-0A17-3E4E-4E1C-15FFA456E124}"/>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2" name="Flowchart: Connector 1">
            <a:extLst>
              <a:ext uri="{FF2B5EF4-FFF2-40B4-BE49-F238E27FC236}">
                <a16:creationId xmlns:a16="http://schemas.microsoft.com/office/drawing/2014/main" id="{0A195325-9253-4073-2A68-E05700316596}"/>
              </a:ext>
            </a:extLst>
          </p:cNvPr>
          <p:cNvSpPr/>
          <p:nvPr/>
        </p:nvSpPr>
        <p:spPr>
          <a:xfrm>
            <a:off x="10845006" y="5969068"/>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lowchart: Connector 2">
            <a:extLst>
              <a:ext uri="{FF2B5EF4-FFF2-40B4-BE49-F238E27FC236}">
                <a16:creationId xmlns:a16="http://schemas.microsoft.com/office/drawing/2014/main" id="{CE61EAD9-886C-41D7-6032-520EBB36BFB0}"/>
              </a:ext>
            </a:extLst>
          </p:cNvPr>
          <p:cNvSpPr/>
          <p:nvPr/>
        </p:nvSpPr>
        <p:spPr>
          <a:xfrm>
            <a:off x="10303454" y="396943"/>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FE42B1A0-17B0-FA72-3D6A-7921A65901D1}"/>
              </a:ext>
            </a:extLst>
          </p:cNvPr>
          <p:cNvSpPr/>
          <p:nvPr/>
        </p:nvSpPr>
        <p:spPr>
          <a:xfrm>
            <a:off x="10813391" y="3992211"/>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lowchart: Connector 9">
            <a:extLst>
              <a:ext uri="{FF2B5EF4-FFF2-40B4-BE49-F238E27FC236}">
                <a16:creationId xmlns:a16="http://schemas.microsoft.com/office/drawing/2014/main" id="{3B4D5A76-88D5-6D88-4F3C-D5D71B1E2ABE}"/>
              </a:ext>
            </a:extLst>
          </p:cNvPr>
          <p:cNvSpPr/>
          <p:nvPr/>
        </p:nvSpPr>
        <p:spPr>
          <a:xfrm>
            <a:off x="2532629" y="6023371"/>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81712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B115068-215C-8805-6255-CE57A2F8382E}"/>
              </a:ext>
            </a:extLst>
          </p:cNvPr>
          <p:cNvSpPr txBox="1"/>
          <p:nvPr/>
        </p:nvSpPr>
        <p:spPr>
          <a:xfrm>
            <a:off x="130628" y="732745"/>
            <a:ext cx="11625943" cy="535531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workflow of the Event &amp; Ticket Booking System illustrates how different roles interact with the system and how processes flow from event creation to ticket booking:</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1. User &amp; Admin Registration/Login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Both users and admins register on the platform.</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Secure login is handled via JWT-based authentication.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Role-based access ensures users and admins access only their permitted functionalities.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2. Admin Actions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Admin logs in and can: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Create, update, or delete events.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Approve or reject venues submitted for events.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Monitor user activity and manage bookings.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All actions are recorded via centralized logging.</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3. Event Browsing &amp; Searching (User Side)</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Users log in and browse events based on:</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Title, ID or category.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Event details include venue information, available seats, and timing.</a:t>
            </a:r>
            <a:endParaRPr lang="en-IN"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9C9942C4-3CA5-4BD3-85C2-0B24C2AD3BBB}"/>
              </a:ext>
            </a:extLst>
          </p:cNvPr>
          <p:cNvSpPr txBox="1"/>
          <p:nvPr/>
        </p:nvSpPr>
        <p:spPr>
          <a:xfrm>
            <a:off x="3205844" y="-56125"/>
            <a:ext cx="6096000" cy="769441"/>
          </a:xfrm>
          <a:prstGeom prst="rect">
            <a:avLst/>
          </a:prstGeom>
          <a:noFill/>
        </p:spPr>
        <p:txBody>
          <a:bodyPr wrap="square">
            <a:spAutoFit/>
          </a:bodyPr>
          <a:lstStyle/>
          <a:p>
            <a:r>
              <a:rPr lang="en-IN" sz="4400" b="1">
                <a:solidFill>
                  <a:schemeClr val="accent1"/>
                </a:solidFill>
                <a:latin typeface="Poppins" panose="00000500000000000000" pitchFamily="2" charset="0"/>
                <a:cs typeface="Poppins" panose="00000500000000000000" pitchFamily="2" charset="0"/>
              </a:rPr>
              <a:t>Project</a:t>
            </a:r>
            <a:r>
              <a:rPr lang="en-IN" sz="4400" b="1">
                <a:solidFill>
                  <a:schemeClr val="bg1"/>
                </a:solidFill>
                <a:latin typeface="Poppins" panose="00000500000000000000" pitchFamily="2" charset="0"/>
                <a:cs typeface="Poppins" panose="00000500000000000000" pitchFamily="2" charset="0"/>
              </a:rPr>
              <a:t> </a:t>
            </a:r>
            <a:r>
              <a:rPr lang="en-IN" sz="4400" b="1">
                <a:solidFill>
                  <a:schemeClr val="accent1"/>
                </a:solidFill>
                <a:latin typeface="Poppins" panose="00000500000000000000" pitchFamily="2" charset="0"/>
                <a:cs typeface="Poppins" panose="00000500000000000000" pitchFamily="2" charset="0"/>
              </a:rPr>
              <a:t>Workflow</a:t>
            </a:r>
            <a:endParaRPr lang="en-IN" sz="4400" b="1" dirty="0">
              <a:solidFill>
                <a:schemeClr val="accent1"/>
              </a:solidFill>
              <a:latin typeface="Poppins" panose="00000500000000000000" pitchFamily="2" charset="0"/>
              <a:cs typeface="Poppins" panose="00000500000000000000" pitchFamily="2" charset="0"/>
            </a:endParaRPr>
          </a:p>
        </p:txBody>
      </p:sp>
      <p:grpSp>
        <p:nvGrpSpPr>
          <p:cNvPr id="13" name="Group 12">
            <a:extLst>
              <a:ext uri="{FF2B5EF4-FFF2-40B4-BE49-F238E27FC236}">
                <a16:creationId xmlns:a16="http://schemas.microsoft.com/office/drawing/2014/main" id="{14BCF179-3594-1169-8280-6DC8CD7F3353}"/>
              </a:ext>
            </a:extLst>
          </p:cNvPr>
          <p:cNvGrpSpPr/>
          <p:nvPr/>
        </p:nvGrpSpPr>
        <p:grpSpPr>
          <a:xfrm>
            <a:off x="234723" y="6405897"/>
            <a:ext cx="4973409" cy="414905"/>
            <a:chOff x="531247" y="6000181"/>
            <a:chExt cx="4973409" cy="414905"/>
          </a:xfrm>
        </p:grpSpPr>
        <p:sp>
          <p:nvSpPr>
            <p:cNvPr id="14" name="TextBox 13">
              <a:extLst>
                <a:ext uri="{FF2B5EF4-FFF2-40B4-BE49-F238E27FC236}">
                  <a16:creationId xmlns:a16="http://schemas.microsoft.com/office/drawing/2014/main" id="{CDC0B3F3-A637-D970-3B99-7E6032930F1A}"/>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15" name="Graphic 14">
              <a:extLst>
                <a:ext uri="{FF2B5EF4-FFF2-40B4-BE49-F238E27FC236}">
                  <a16:creationId xmlns:a16="http://schemas.microsoft.com/office/drawing/2014/main" id="{773818F2-4CCB-6321-E20B-5C3BE1DBE4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1247" y="6000181"/>
              <a:ext cx="353218" cy="388987"/>
            </a:xfrm>
            <a:prstGeom prst="rect">
              <a:avLst/>
            </a:prstGeom>
          </p:spPr>
        </p:pic>
        <p:cxnSp>
          <p:nvCxnSpPr>
            <p:cNvPr id="16" name="Straight Connector 15">
              <a:extLst>
                <a:ext uri="{FF2B5EF4-FFF2-40B4-BE49-F238E27FC236}">
                  <a16:creationId xmlns:a16="http://schemas.microsoft.com/office/drawing/2014/main" id="{5E840013-1393-39D6-C22B-0EC945F03618}"/>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2" name="Flowchart: Connector 1">
            <a:extLst>
              <a:ext uri="{FF2B5EF4-FFF2-40B4-BE49-F238E27FC236}">
                <a16:creationId xmlns:a16="http://schemas.microsoft.com/office/drawing/2014/main" id="{11D5791B-F7DA-2620-EE70-4BC29A00A89F}"/>
              </a:ext>
            </a:extLst>
          </p:cNvPr>
          <p:cNvSpPr/>
          <p:nvPr/>
        </p:nvSpPr>
        <p:spPr>
          <a:xfrm>
            <a:off x="10381591" y="291231"/>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lowchart: Connector 2">
            <a:extLst>
              <a:ext uri="{FF2B5EF4-FFF2-40B4-BE49-F238E27FC236}">
                <a16:creationId xmlns:a16="http://schemas.microsoft.com/office/drawing/2014/main" id="{D83CD607-8D8E-D08E-50BE-2B85CC144E2D}"/>
              </a:ext>
            </a:extLst>
          </p:cNvPr>
          <p:cNvSpPr/>
          <p:nvPr/>
        </p:nvSpPr>
        <p:spPr>
          <a:xfrm>
            <a:off x="10845006" y="5969068"/>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E81890BA-81EC-39F4-EC41-FB799852B6E7}"/>
              </a:ext>
            </a:extLst>
          </p:cNvPr>
          <p:cNvSpPr/>
          <p:nvPr/>
        </p:nvSpPr>
        <p:spPr>
          <a:xfrm>
            <a:off x="1263662" y="433662"/>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BD0B82D7-44F2-F841-DFBA-718C8FC21EA8}"/>
              </a:ext>
            </a:extLst>
          </p:cNvPr>
          <p:cNvSpPr/>
          <p:nvPr/>
        </p:nvSpPr>
        <p:spPr>
          <a:xfrm>
            <a:off x="8182315" y="4450214"/>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Connector 7">
            <a:extLst>
              <a:ext uri="{FF2B5EF4-FFF2-40B4-BE49-F238E27FC236}">
                <a16:creationId xmlns:a16="http://schemas.microsoft.com/office/drawing/2014/main" id="{2EAEF7C7-C5EA-0908-452B-6C9CB702808B}"/>
              </a:ext>
            </a:extLst>
          </p:cNvPr>
          <p:cNvSpPr/>
          <p:nvPr/>
        </p:nvSpPr>
        <p:spPr>
          <a:xfrm>
            <a:off x="10381591" y="3180508"/>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3664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68994C8-EEC0-562B-A7A9-0C674B357856}"/>
              </a:ext>
            </a:extLst>
          </p:cNvPr>
          <p:cNvPicPr>
            <a:picLocks noChangeAspect="1"/>
          </p:cNvPicPr>
          <p:nvPr/>
        </p:nvPicPr>
        <p:blipFill>
          <a:blip r:embed="rId2"/>
          <a:stretch>
            <a:fillRect/>
          </a:stretch>
        </p:blipFill>
        <p:spPr>
          <a:xfrm>
            <a:off x="9489620" y="5321219"/>
            <a:ext cx="2481944" cy="1231306"/>
          </a:xfrm>
          <a:prstGeom prst="rect">
            <a:avLst/>
          </a:prstGeom>
        </p:spPr>
      </p:pic>
      <p:sp>
        <p:nvSpPr>
          <p:cNvPr id="8" name="TextBox 7">
            <a:extLst>
              <a:ext uri="{FF2B5EF4-FFF2-40B4-BE49-F238E27FC236}">
                <a16:creationId xmlns:a16="http://schemas.microsoft.com/office/drawing/2014/main" id="{3A23178E-AB80-1398-1D46-3EE4F024D05C}"/>
              </a:ext>
            </a:extLst>
          </p:cNvPr>
          <p:cNvSpPr txBox="1"/>
          <p:nvPr/>
        </p:nvSpPr>
        <p:spPr>
          <a:xfrm>
            <a:off x="220436" y="0"/>
            <a:ext cx="8564335" cy="6247864"/>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4. Ticket Booking Process</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Users select an event and choose the number of tickets.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Real-time seat availability ensures no overbooking.</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Upon confirmation, booking is stored in MongoDB with a unique ID.</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5. Booking Management</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Users can view, update, or cancel their bookings.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Admins can monitor all bookings and track attendance.</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6. Security &amp; Data Handling</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sensitive data (passwords, sessions) are securely handled.</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Asynchronous database operations ensure high performance and scalability.</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7. Logging &amp; Exception Handling</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Errors and system activities are logged for debugging and traceability.</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Ensures smooth functioning and maintainability of the system.</a:t>
            </a:r>
            <a:endParaRPr lang="en-IN"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A1A888F-EECA-0F9F-AF12-088B7A9AAE72}"/>
              </a:ext>
            </a:extLst>
          </p:cNvPr>
          <p:cNvPicPr>
            <a:picLocks noChangeAspect="1"/>
          </p:cNvPicPr>
          <p:nvPr/>
        </p:nvPicPr>
        <p:blipFill>
          <a:blip r:embed="rId3"/>
          <a:stretch>
            <a:fillRect/>
          </a:stretch>
        </p:blipFill>
        <p:spPr>
          <a:xfrm>
            <a:off x="8545286" y="195942"/>
            <a:ext cx="2796268" cy="5682343"/>
          </a:xfrm>
          <a:prstGeom prst="rect">
            <a:avLst/>
          </a:prstGeom>
        </p:spPr>
      </p:pic>
      <p:pic>
        <p:nvPicPr>
          <p:cNvPr id="7" name="Picture 6">
            <a:extLst>
              <a:ext uri="{FF2B5EF4-FFF2-40B4-BE49-F238E27FC236}">
                <a16:creationId xmlns:a16="http://schemas.microsoft.com/office/drawing/2014/main" id="{E3E80499-A6E2-B102-7CBF-72D2C9763445}"/>
              </a:ext>
            </a:extLst>
          </p:cNvPr>
          <p:cNvPicPr>
            <a:picLocks noChangeAspect="1"/>
          </p:cNvPicPr>
          <p:nvPr/>
        </p:nvPicPr>
        <p:blipFill>
          <a:blip r:embed="rId4"/>
          <a:stretch>
            <a:fillRect/>
          </a:stretch>
        </p:blipFill>
        <p:spPr>
          <a:xfrm>
            <a:off x="474892" y="6344370"/>
            <a:ext cx="4974767" cy="475529"/>
          </a:xfrm>
          <a:prstGeom prst="rect">
            <a:avLst/>
          </a:prstGeom>
        </p:spPr>
      </p:pic>
      <p:sp>
        <p:nvSpPr>
          <p:cNvPr id="2" name="Flowchart: Connector 1">
            <a:extLst>
              <a:ext uri="{FF2B5EF4-FFF2-40B4-BE49-F238E27FC236}">
                <a16:creationId xmlns:a16="http://schemas.microsoft.com/office/drawing/2014/main" id="{3B881161-3F96-EF21-73DF-4BA4B1A7E344}"/>
              </a:ext>
            </a:extLst>
          </p:cNvPr>
          <p:cNvSpPr/>
          <p:nvPr/>
        </p:nvSpPr>
        <p:spPr>
          <a:xfrm>
            <a:off x="6896225" y="610136"/>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lowchart: Connector 2">
            <a:extLst>
              <a:ext uri="{FF2B5EF4-FFF2-40B4-BE49-F238E27FC236}">
                <a16:creationId xmlns:a16="http://schemas.microsoft.com/office/drawing/2014/main" id="{5DA19279-236F-0B4E-63AD-9637CBEAA143}"/>
              </a:ext>
            </a:extLst>
          </p:cNvPr>
          <p:cNvSpPr/>
          <p:nvPr/>
        </p:nvSpPr>
        <p:spPr>
          <a:xfrm>
            <a:off x="8478273" y="6098418"/>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E5DDF360-CC56-A1D3-5A94-83C97D8FEF92}"/>
              </a:ext>
            </a:extLst>
          </p:cNvPr>
          <p:cNvSpPr/>
          <p:nvPr/>
        </p:nvSpPr>
        <p:spPr>
          <a:xfrm>
            <a:off x="7821709" y="3123932"/>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21E62B0F-7D7E-D536-3882-D8CD8C2819AA}"/>
              </a:ext>
            </a:extLst>
          </p:cNvPr>
          <p:cNvSpPr/>
          <p:nvPr/>
        </p:nvSpPr>
        <p:spPr>
          <a:xfrm>
            <a:off x="3218429" y="6344370"/>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93E8F751-6ACA-B93D-4279-7C8B57A6E672}"/>
              </a:ext>
            </a:extLst>
          </p:cNvPr>
          <p:cNvPicPr>
            <a:picLocks noChangeAspect="1"/>
          </p:cNvPicPr>
          <p:nvPr/>
        </p:nvPicPr>
        <p:blipFill>
          <a:blip r:embed="rId5"/>
          <a:stretch>
            <a:fillRect/>
          </a:stretch>
        </p:blipFill>
        <p:spPr>
          <a:xfrm>
            <a:off x="8460551" y="87272"/>
            <a:ext cx="271296" cy="1284514"/>
          </a:xfrm>
          <a:prstGeom prst="rect">
            <a:avLst/>
          </a:prstGeom>
        </p:spPr>
      </p:pic>
    </p:spTree>
    <p:extLst>
      <p:ext uri="{BB962C8B-B14F-4D97-AF65-F5344CB8AC3E}">
        <p14:creationId xmlns:p14="http://schemas.microsoft.com/office/powerpoint/2010/main" val="4184906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DD817-0C9A-83B2-07E2-52685EA0CA23}"/>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11EA1AF7-F7CA-DED6-786C-96A0A2748E15}"/>
              </a:ext>
            </a:extLst>
          </p:cNvPr>
          <p:cNvGrpSpPr/>
          <p:nvPr/>
        </p:nvGrpSpPr>
        <p:grpSpPr>
          <a:xfrm>
            <a:off x="445001" y="6402915"/>
            <a:ext cx="4886323" cy="388987"/>
            <a:chOff x="618333" y="6026099"/>
            <a:chExt cx="4886323" cy="388987"/>
          </a:xfrm>
        </p:grpSpPr>
        <p:sp>
          <p:nvSpPr>
            <p:cNvPr id="14" name="TextBox 13">
              <a:extLst>
                <a:ext uri="{FF2B5EF4-FFF2-40B4-BE49-F238E27FC236}">
                  <a16:creationId xmlns:a16="http://schemas.microsoft.com/office/drawing/2014/main" id="{5A3DF286-AC15-C327-332C-8CDEAE112294}"/>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15" name="Graphic 14">
              <a:extLst>
                <a:ext uri="{FF2B5EF4-FFF2-40B4-BE49-F238E27FC236}">
                  <a16:creationId xmlns:a16="http://schemas.microsoft.com/office/drawing/2014/main" id="{5009E79B-716C-52DB-E3C6-4916B90AF6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16" name="Straight Connector 15">
              <a:extLst>
                <a:ext uri="{FF2B5EF4-FFF2-40B4-BE49-F238E27FC236}">
                  <a16:creationId xmlns:a16="http://schemas.microsoft.com/office/drawing/2014/main" id="{D3F024D3-E9D1-8701-76AA-A1EA1B9655FD}"/>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26" name="TextBox 25">
            <a:extLst>
              <a:ext uri="{FF2B5EF4-FFF2-40B4-BE49-F238E27FC236}">
                <a16:creationId xmlns:a16="http://schemas.microsoft.com/office/drawing/2014/main" id="{84165312-615A-D343-FA22-AA0B3F4F1558}"/>
              </a:ext>
            </a:extLst>
          </p:cNvPr>
          <p:cNvSpPr txBox="1"/>
          <p:nvPr/>
        </p:nvSpPr>
        <p:spPr>
          <a:xfrm>
            <a:off x="6328574" y="965098"/>
            <a:ext cx="5244301" cy="5632311"/>
          </a:xfrm>
          <a:prstGeom prst="rect">
            <a:avLst/>
          </a:prstGeom>
          <a:noFill/>
        </p:spPr>
        <p:txBody>
          <a:bodyPr wrap="square" rtlCol="0">
            <a:spAutoFit/>
          </a:bodyPr>
          <a:lstStyle/>
          <a:p>
            <a:pPr marL="285750" indent="-285750">
              <a:buFont typeface="Arial" panose="020B0604020202020204" pitchFamily="34" charset="0"/>
              <a:buChar char="•"/>
            </a:pPr>
            <a:r>
              <a:rPr lang="en-US" sz="2000" b="1" kern="200" dirty="0">
                <a:solidFill>
                  <a:srgbClr val="1B134C"/>
                </a:solidFill>
                <a:latin typeface="Times New Roman" panose="02020603050405020304" pitchFamily="18" charset="0"/>
                <a:cs typeface="Times New Roman" panose="02020603050405020304" pitchFamily="18" charset="0"/>
              </a:rPr>
              <a:t>Backend: </a:t>
            </a:r>
            <a:r>
              <a:rPr lang="en-US" sz="2000" kern="200" dirty="0">
                <a:solidFill>
                  <a:srgbClr val="1B134C"/>
                </a:solidFill>
                <a:latin typeface="Times New Roman" panose="02020603050405020304" pitchFamily="18" charset="0"/>
                <a:cs typeface="Times New Roman" panose="02020603050405020304" pitchFamily="18" charset="0"/>
              </a:rPr>
              <a:t>Python + </a:t>
            </a:r>
            <a:r>
              <a:rPr lang="en-US" sz="2000" kern="200" dirty="0" err="1">
                <a:solidFill>
                  <a:srgbClr val="1B134C"/>
                </a:solidFill>
                <a:latin typeface="Times New Roman" panose="02020603050405020304" pitchFamily="18" charset="0"/>
                <a:cs typeface="Times New Roman" panose="02020603050405020304" pitchFamily="18" charset="0"/>
              </a:rPr>
              <a:t>FastAPI</a:t>
            </a:r>
            <a:r>
              <a:rPr lang="en-US" sz="2000" kern="200" dirty="0">
                <a:solidFill>
                  <a:srgbClr val="1B134C"/>
                </a:solidFill>
                <a:latin typeface="Times New Roman" panose="02020603050405020304" pitchFamily="18" charset="0"/>
                <a:cs typeface="Times New Roman" panose="02020603050405020304" pitchFamily="18" charset="0"/>
              </a:rPr>
              <a:t> for high-performance APIs.</a:t>
            </a:r>
          </a:p>
          <a:p>
            <a:endParaRPr lang="en-US" sz="2000" kern="2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kern="200" dirty="0">
                <a:solidFill>
                  <a:srgbClr val="1B134C"/>
                </a:solidFill>
                <a:latin typeface="Times New Roman" panose="02020603050405020304" pitchFamily="18" charset="0"/>
                <a:cs typeface="Times New Roman" panose="02020603050405020304" pitchFamily="18" charset="0"/>
              </a:rPr>
              <a:t>Database: </a:t>
            </a:r>
            <a:r>
              <a:rPr lang="en-US" sz="2000" kern="200" dirty="0">
                <a:solidFill>
                  <a:srgbClr val="1B134C"/>
                </a:solidFill>
                <a:latin typeface="Times New Roman" panose="02020603050405020304" pitchFamily="18" charset="0"/>
                <a:cs typeface="Times New Roman" panose="02020603050405020304" pitchFamily="18" charset="0"/>
              </a:rPr>
              <a:t>MongoDB with async support (Motor).</a:t>
            </a:r>
          </a:p>
          <a:p>
            <a:pPr marL="285750" indent="-285750">
              <a:buFont typeface="Arial" panose="020B0604020202020204" pitchFamily="34" charset="0"/>
              <a:buChar char="•"/>
            </a:pPr>
            <a:endParaRPr lang="en-US" sz="2000" b="1" kern="2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kern="200" dirty="0">
                <a:solidFill>
                  <a:srgbClr val="1B134C"/>
                </a:solidFill>
                <a:latin typeface="Times New Roman" panose="02020603050405020304" pitchFamily="18" charset="0"/>
                <a:cs typeface="Times New Roman" panose="02020603050405020304" pitchFamily="18" charset="0"/>
              </a:rPr>
              <a:t>Authentication: </a:t>
            </a:r>
            <a:r>
              <a:rPr lang="en-US" sz="2000" kern="200" dirty="0">
                <a:solidFill>
                  <a:srgbClr val="1B134C"/>
                </a:solidFill>
                <a:latin typeface="Times New Roman" panose="02020603050405020304" pitchFamily="18" charset="0"/>
                <a:cs typeface="Times New Roman" panose="02020603050405020304" pitchFamily="18" charset="0"/>
              </a:rPr>
              <a:t>JWT (JSON Web Token)</a:t>
            </a:r>
          </a:p>
          <a:p>
            <a:pPr marL="285750" indent="-285750">
              <a:buFont typeface="Arial" panose="020B0604020202020204" pitchFamily="34" charset="0"/>
              <a:buChar char="•"/>
            </a:pPr>
            <a:endParaRPr lang="en-US" sz="2000" b="1" kern="2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kern="200" dirty="0">
                <a:solidFill>
                  <a:srgbClr val="1B134C"/>
                </a:solidFill>
                <a:latin typeface="Times New Roman" panose="02020603050405020304" pitchFamily="18" charset="0"/>
                <a:cs typeface="Times New Roman" panose="02020603050405020304" pitchFamily="18" charset="0"/>
              </a:rPr>
              <a:t>Security: </a:t>
            </a:r>
            <a:r>
              <a:rPr lang="en-US" sz="2000" kern="200" dirty="0" err="1">
                <a:solidFill>
                  <a:srgbClr val="1B134C"/>
                </a:solidFill>
                <a:latin typeface="Times New Roman" panose="02020603050405020304" pitchFamily="18" charset="0"/>
                <a:cs typeface="Times New Roman" panose="02020603050405020304" pitchFamily="18" charset="0"/>
              </a:rPr>
              <a:t>Passlib</a:t>
            </a:r>
            <a:r>
              <a:rPr lang="en-US" sz="2000" kern="200" dirty="0">
                <a:solidFill>
                  <a:srgbClr val="1B134C"/>
                </a:solidFill>
                <a:latin typeface="Times New Roman" panose="02020603050405020304" pitchFamily="18" charset="0"/>
                <a:cs typeface="Times New Roman" panose="02020603050405020304" pitchFamily="18" charset="0"/>
              </a:rPr>
              <a:t> (Password Hashing)</a:t>
            </a:r>
          </a:p>
          <a:p>
            <a:endParaRPr lang="en-US" sz="2000" kern="2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kern="200" dirty="0">
                <a:solidFill>
                  <a:srgbClr val="1B134C"/>
                </a:solidFill>
                <a:latin typeface="Times New Roman" panose="02020603050405020304" pitchFamily="18" charset="0"/>
                <a:cs typeface="Times New Roman" panose="02020603050405020304" pitchFamily="18" charset="0"/>
              </a:rPr>
              <a:t>Data Validation : </a:t>
            </a:r>
            <a:r>
              <a:rPr lang="en-US" sz="2000" kern="200" dirty="0" err="1">
                <a:solidFill>
                  <a:srgbClr val="1B134C"/>
                </a:solidFill>
                <a:latin typeface="Times New Roman" panose="02020603050405020304" pitchFamily="18" charset="0"/>
                <a:cs typeface="Times New Roman" panose="02020603050405020304" pitchFamily="18" charset="0"/>
              </a:rPr>
              <a:t>Pydantic</a:t>
            </a:r>
            <a:r>
              <a:rPr lang="en-US" sz="2000" kern="200" dirty="0">
                <a:solidFill>
                  <a:srgbClr val="1B134C"/>
                </a:solidFill>
                <a:latin typeface="Times New Roman" panose="02020603050405020304" pitchFamily="18" charset="0"/>
                <a:cs typeface="Times New Roman" panose="02020603050405020304" pitchFamily="18" charset="0"/>
              </a:rPr>
              <a:t> for data consistency.</a:t>
            </a:r>
          </a:p>
          <a:p>
            <a:endParaRPr lang="en-US" sz="2000" kern="2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kern="200" dirty="0">
                <a:solidFill>
                  <a:srgbClr val="1B134C"/>
                </a:solidFill>
                <a:latin typeface="Times New Roman" panose="02020603050405020304" pitchFamily="18" charset="0"/>
                <a:cs typeface="Times New Roman" panose="02020603050405020304" pitchFamily="18" charset="0"/>
              </a:rPr>
              <a:t>Logging &amp; Errors:</a:t>
            </a:r>
            <a:r>
              <a:rPr lang="en-US" sz="2000" kern="200" dirty="0">
                <a:solidFill>
                  <a:srgbClr val="1B134C"/>
                </a:solidFill>
                <a:latin typeface="Times New Roman" panose="02020603050405020304" pitchFamily="18" charset="0"/>
                <a:cs typeface="Times New Roman" panose="02020603050405020304" pitchFamily="18" charset="0"/>
              </a:rPr>
              <a:t> Centralized Logging &amp; Exception Handling</a:t>
            </a:r>
          </a:p>
          <a:p>
            <a:pPr marL="285750" indent="-285750">
              <a:buFont typeface="Arial" panose="020B0604020202020204" pitchFamily="34" charset="0"/>
              <a:buChar char="•"/>
            </a:pPr>
            <a:endParaRPr lang="en-US" sz="2000" b="1" kern="2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kern="200" dirty="0">
                <a:solidFill>
                  <a:srgbClr val="1B134C"/>
                </a:solidFill>
                <a:latin typeface="Times New Roman" panose="02020603050405020304" pitchFamily="18" charset="0"/>
                <a:cs typeface="Times New Roman" panose="02020603050405020304" pitchFamily="18" charset="0"/>
              </a:rPr>
              <a:t>Design : </a:t>
            </a:r>
            <a:r>
              <a:rPr lang="en-US" sz="2000" kern="200" dirty="0">
                <a:solidFill>
                  <a:srgbClr val="1B134C"/>
                </a:solidFill>
                <a:latin typeface="Times New Roman" panose="02020603050405020304" pitchFamily="18" charset="0"/>
                <a:cs typeface="Times New Roman" panose="02020603050405020304" pitchFamily="18" charset="0"/>
              </a:rPr>
              <a:t>Asynchronous, scalable, and modular</a:t>
            </a:r>
            <a:r>
              <a:rPr lang="en-US" sz="1600" kern="200" dirty="0">
                <a:solidFill>
                  <a:srgbClr val="1B134C"/>
                </a:solidFill>
                <a:latin typeface="Poppins" panose="00000500000000000000" pitchFamily="2" charset="0"/>
                <a:cs typeface="Poppins" panose="00000500000000000000" pitchFamily="2" charset="0"/>
              </a:rPr>
              <a:t>.</a:t>
            </a:r>
            <a:endParaRPr lang="en-US" sz="1600" b="1" kern="200" dirty="0">
              <a:solidFill>
                <a:srgbClr val="1B134C"/>
              </a:solidFill>
              <a:latin typeface="Poppins" panose="00000500000000000000" pitchFamily="2" charset="0"/>
              <a:cs typeface="Poppins" panose="00000500000000000000" pitchFamily="2" charset="0"/>
            </a:endParaRPr>
          </a:p>
        </p:txBody>
      </p:sp>
      <p:sp>
        <p:nvSpPr>
          <p:cNvPr id="27" name="TextBox 26">
            <a:extLst>
              <a:ext uri="{FF2B5EF4-FFF2-40B4-BE49-F238E27FC236}">
                <a16:creationId xmlns:a16="http://schemas.microsoft.com/office/drawing/2014/main" id="{1AAE1F59-2710-4E73-B70C-819413314C80}"/>
              </a:ext>
            </a:extLst>
          </p:cNvPr>
          <p:cNvSpPr txBox="1"/>
          <p:nvPr/>
        </p:nvSpPr>
        <p:spPr>
          <a:xfrm>
            <a:off x="7325824" y="370156"/>
            <a:ext cx="5244301" cy="617477"/>
          </a:xfrm>
          <a:prstGeom prst="rect">
            <a:avLst/>
          </a:prstGeom>
          <a:noFill/>
        </p:spPr>
        <p:txBody>
          <a:bodyPr wrap="square" rtlCol="0">
            <a:spAutoFit/>
          </a:bodyPr>
          <a:lstStyle/>
          <a:p>
            <a:pPr>
              <a:lnSpc>
                <a:spcPct val="70000"/>
              </a:lnSpc>
            </a:pPr>
            <a:r>
              <a:rPr lang="en-US" sz="4400" b="1" spc="-300" dirty="0">
                <a:solidFill>
                  <a:schemeClr val="accent1"/>
                </a:solidFill>
                <a:latin typeface="Poppins" panose="00000500000000000000" pitchFamily="2" charset="0"/>
                <a:cs typeface="Poppins" panose="00000500000000000000" pitchFamily="2" charset="0"/>
              </a:rPr>
              <a:t>Tech Stack</a:t>
            </a:r>
          </a:p>
        </p:txBody>
      </p:sp>
      <p:pic>
        <p:nvPicPr>
          <p:cNvPr id="7" name="Picture 6">
            <a:extLst>
              <a:ext uri="{FF2B5EF4-FFF2-40B4-BE49-F238E27FC236}">
                <a16:creationId xmlns:a16="http://schemas.microsoft.com/office/drawing/2014/main" id="{292167C1-0DD9-13D2-E90F-9E1DB1E153AE}"/>
              </a:ext>
            </a:extLst>
          </p:cNvPr>
          <p:cNvPicPr>
            <a:picLocks noChangeAspect="1"/>
          </p:cNvPicPr>
          <p:nvPr/>
        </p:nvPicPr>
        <p:blipFill>
          <a:blip r:embed="rId5"/>
          <a:stretch>
            <a:fillRect/>
          </a:stretch>
        </p:blipFill>
        <p:spPr>
          <a:xfrm>
            <a:off x="445001" y="370156"/>
            <a:ext cx="5802473" cy="3663555"/>
          </a:xfrm>
          <a:prstGeom prst="rect">
            <a:avLst/>
          </a:prstGeom>
        </p:spPr>
      </p:pic>
      <p:pic>
        <p:nvPicPr>
          <p:cNvPr id="11" name="Picture 10">
            <a:extLst>
              <a:ext uri="{FF2B5EF4-FFF2-40B4-BE49-F238E27FC236}">
                <a16:creationId xmlns:a16="http://schemas.microsoft.com/office/drawing/2014/main" id="{E92A2059-0A94-C69A-60DB-A0730E563E31}"/>
              </a:ext>
            </a:extLst>
          </p:cNvPr>
          <p:cNvPicPr>
            <a:picLocks noChangeAspect="1"/>
          </p:cNvPicPr>
          <p:nvPr/>
        </p:nvPicPr>
        <p:blipFill>
          <a:blip r:embed="rId6"/>
          <a:stretch>
            <a:fillRect/>
          </a:stretch>
        </p:blipFill>
        <p:spPr>
          <a:xfrm>
            <a:off x="1947076" y="4356441"/>
            <a:ext cx="2143125" cy="2046474"/>
          </a:xfrm>
          <a:prstGeom prst="rect">
            <a:avLst/>
          </a:prstGeom>
        </p:spPr>
      </p:pic>
      <p:sp>
        <p:nvSpPr>
          <p:cNvPr id="2" name="Flowchart: Connector 1">
            <a:extLst>
              <a:ext uri="{FF2B5EF4-FFF2-40B4-BE49-F238E27FC236}">
                <a16:creationId xmlns:a16="http://schemas.microsoft.com/office/drawing/2014/main" id="{FBE30DC6-E5F2-F34A-89B2-521086E8BFE4}"/>
              </a:ext>
            </a:extLst>
          </p:cNvPr>
          <p:cNvSpPr/>
          <p:nvPr/>
        </p:nvSpPr>
        <p:spPr>
          <a:xfrm>
            <a:off x="6700282" y="462994"/>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lowchart: Connector 2">
            <a:extLst>
              <a:ext uri="{FF2B5EF4-FFF2-40B4-BE49-F238E27FC236}">
                <a16:creationId xmlns:a16="http://schemas.microsoft.com/office/drawing/2014/main" id="{608A07DB-AA2B-D79F-3F89-2CCB8A5AB53A}"/>
              </a:ext>
            </a:extLst>
          </p:cNvPr>
          <p:cNvSpPr/>
          <p:nvPr/>
        </p:nvSpPr>
        <p:spPr>
          <a:xfrm>
            <a:off x="11438075" y="4140541"/>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5E4F5C94-99AE-7A7E-1F8F-645F92BBC4B8}"/>
              </a:ext>
            </a:extLst>
          </p:cNvPr>
          <p:cNvSpPr/>
          <p:nvPr/>
        </p:nvSpPr>
        <p:spPr>
          <a:xfrm>
            <a:off x="3218429" y="6344370"/>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E45B8ECB-7B3D-C32A-7F02-D5961F68C25F}"/>
              </a:ext>
            </a:extLst>
          </p:cNvPr>
          <p:cNvSpPr/>
          <p:nvPr/>
        </p:nvSpPr>
        <p:spPr>
          <a:xfrm>
            <a:off x="155176" y="4637046"/>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688460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088F8-073A-5FCF-7308-2EC60CDF363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BCCEC3B-C0D3-843C-32F3-72780EA21026}"/>
              </a:ext>
            </a:extLst>
          </p:cNvPr>
          <p:cNvSpPr txBox="1"/>
          <p:nvPr/>
        </p:nvSpPr>
        <p:spPr>
          <a:xfrm>
            <a:off x="2387768" y="248259"/>
            <a:ext cx="7416464" cy="559127"/>
          </a:xfrm>
          <a:prstGeom prst="rect">
            <a:avLst/>
          </a:prstGeom>
          <a:noFill/>
        </p:spPr>
        <p:txBody>
          <a:bodyPr wrap="square" rtlCol="0">
            <a:spAutoFit/>
          </a:bodyPr>
          <a:lstStyle/>
          <a:p>
            <a:pPr algn="ctr">
              <a:lnSpc>
                <a:spcPct val="70000"/>
              </a:lnSpc>
            </a:pPr>
            <a:r>
              <a:rPr lang="en-US" sz="4000" b="1" spc="-150" dirty="0">
                <a:solidFill>
                  <a:schemeClr val="accent1"/>
                </a:solidFill>
                <a:latin typeface="Poppins" panose="00000500000000000000" pitchFamily="2" charset="0"/>
                <a:cs typeface="Poppins" panose="00000500000000000000" pitchFamily="2" charset="0"/>
              </a:rPr>
              <a:t>Core Management Modules </a:t>
            </a:r>
          </a:p>
        </p:txBody>
      </p:sp>
      <p:grpSp>
        <p:nvGrpSpPr>
          <p:cNvPr id="13" name="Group 12">
            <a:extLst>
              <a:ext uri="{FF2B5EF4-FFF2-40B4-BE49-F238E27FC236}">
                <a16:creationId xmlns:a16="http://schemas.microsoft.com/office/drawing/2014/main" id="{A13A0819-0D3C-02E0-6DBB-4E9689E40008}"/>
              </a:ext>
            </a:extLst>
          </p:cNvPr>
          <p:cNvGrpSpPr/>
          <p:nvPr/>
        </p:nvGrpSpPr>
        <p:grpSpPr>
          <a:xfrm>
            <a:off x="732633" y="6026099"/>
            <a:ext cx="4886323" cy="388987"/>
            <a:chOff x="618333" y="6026099"/>
            <a:chExt cx="4886323" cy="388987"/>
          </a:xfrm>
        </p:grpSpPr>
        <p:sp>
          <p:nvSpPr>
            <p:cNvPr id="14" name="TextBox 13">
              <a:extLst>
                <a:ext uri="{FF2B5EF4-FFF2-40B4-BE49-F238E27FC236}">
                  <a16:creationId xmlns:a16="http://schemas.microsoft.com/office/drawing/2014/main" id="{C27F195B-8CF8-2175-9BC5-9CE49FA48C1C}"/>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15" name="Graphic 14">
              <a:extLst>
                <a:ext uri="{FF2B5EF4-FFF2-40B4-BE49-F238E27FC236}">
                  <a16:creationId xmlns:a16="http://schemas.microsoft.com/office/drawing/2014/main" id="{3FE5C1F2-A290-1FBE-0BC2-EC5F0E887A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16" name="Straight Connector 15">
              <a:extLst>
                <a:ext uri="{FF2B5EF4-FFF2-40B4-BE49-F238E27FC236}">
                  <a16:creationId xmlns:a16="http://schemas.microsoft.com/office/drawing/2014/main" id="{F33F2914-AE79-DECF-8393-B159B3697381}"/>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23" name="TextBox 22">
            <a:extLst>
              <a:ext uri="{FF2B5EF4-FFF2-40B4-BE49-F238E27FC236}">
                <a16:creationId xmlns:a16="http://schemas.microsoft.com/office/drawing/2014/main" id="{CC6EF2D4-332E-2AA5-94C9-55344A8A131D}"/>
              </a:ext>
            </a:extLst>
          </p:cNvPr>
          <p:cNvSpPr txBox="1"/>
          <p:nvPr/>
        </p:nvSpPr>
        <p:spPr>
          <a:xfrm>
            <a:off x="446313" y="920621"/>
            <a:ext cx="9650753" cy="5016758"/>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1. User Management Module</a:t>
            </a:r>
            <a:r>
              <a:rPr lang="en-US" sz="20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Purpose: Manage users and their activities.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Features:</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User registration &amp; login</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Profile management</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Password reset &amp; change</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Role-based access (User/Admin)</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Session management (JWT-based)</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2. Admin Management Module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Purpose: Control overall system operations.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Features:</a:t>
            </a:r>
          </a:p>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Admin registration &amp; login</a:t>
            </a:r>
          </a:p>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Approve/reject user actions</a:t>
            </a:r>
          </a:p>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View reports and system logs</a:t>
            </a:r>
          </a:p>
          <a:p>
            <a:pPr marL="342900" indent="-34290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Assign roles and permissions</a:t>
            </a:r>
          </a:p>
        </p:txBody>
      </p:sp>
      <p:sp>
        <p:nvSpPr>
          <p:cNvPr id="2" name="Flowchart: Connector 1">
            <a:extLst>
              <a:ext uri="{FF2B5EF4-FFF2-40B4-BE49-F238E27FC236}">
                <a16:creationId xmlns:a16="http://schemas.microsoft.com/office/drawing/2014/main" id="{AB951B01-BB83-8580-C43A-3F76C3599D33}"/>
              </a:ext>
            </a:extLst>
          </p:cNvPr>
          <p:cNvSpPr/>
          <p:nvPr/>
        </p:nvSpPr>
        <p:spPr>
          <a:xfrm>
            <a:off x="8324760" y="5402881"/>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lowchart: Connector 2">
            <a:extLst>
              <a:ext uri="{FF2B5EF4-FFF2-40B4-BE49-F238E27FC236}">
                <a16:creationId xmlns:a16="http://schemas.microsoft.com/office/drawing/2014/main" id="{5B030CAA-0F37-C46D-B660-0072C1785774}"/>
              </a:ext>
            </a:extLst>
          </p:cNvPr>
          <p:cNvSpPr/>
          <p:nvPr/>
        </p:nvSpPr>
        <p:spPr>
          <a:xfrm>
            <a:off x="10119870" y="831001"/>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28C359D1-54E7-CCDA-AB59-756EB81E71D2}"/>
              </a:ext>
            </a:extLst>
          </p:cNvPr>
          <p:cNvSpPr/>
          <p:nvPr/>
        </p:nvSpPr>
        <p:spPr>
          <a:xfrm>
            <a:off x="1122510" y="634110"/>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E8467617-C3B2-E4D2-68B9-5C0966913C67}"/>
              </a:ext>
            </a:extLst>
          </p:cNvPr>
          <p:cNvSpPr/>
          <p:nvPr/>
        </p:nvSpPr>
        <p:spPr>
          <a:xfrm>
            <a:off x="3599429" y="6309605"/>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53014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BFB6A4F-AFF9-0B55-25B2-78A7CADB2D1B}"/>
              </a:ext>
            </a:extLst>
          </p:cNvPr>
          <p:cNvSpPr txBox="1"/>
          <p:nvPr/>
        </p:nvSpPr>
        <p:spPr>
          <a:xfrm>
            <a:off x="283028" y="37550"/>
            <a:ext cx="11364686" cy="5232202"/>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3. Event Management Module</a:t>
            </a:r>
          </a:p>
          <a:p>
            <a:pPr marL="285750" indent="-285750">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Purpose:Manage</a:t>
            </a:r>
            <a:r>
              <a:rPr lang="en-US" sz="2000" dirty="0">
                <a:latin typeface="Times New Roman" panose="02020603050405020304" pitchFamily="18" charset="0"/>
                <a:cs typeface="Times New Roman" panose="02020603050405020304" pitchFamily="18" charset="0"/>
              </a:rPr>
              <a:t> events from creation to completion.</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Features:</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Create, edit, and delete events(only admins)</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Assign event dates, venues, and capacity(only admins)</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Event status management (active, canceled)</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Event categorization (workshop, concert, seminar, etc.)</a:t>
            </a:r>
          </a:p>
          <a:p>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4. Venue Management Module</a:t>
            </a:r>
          </a:p>
          <a:p>
            <a:pPr marL="285750" indent="-285750">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Purpose:Handle</a:t>
            </a:r>
            <a:r>
              <a:rPr lang="en-US" sz="2000" dirty="0">
                <a:latin typeface="Times New Roman" panose="02020603050405020304" pitchFamily="18" charset="0"/>
                <a:cs typeface="Times New Roman" panose="02020603050405020304" pitchFamily="18" charset="0"/>
              </a:rPr>
              <a:t> event venues and seating arrangements.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Features:</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Add, edit, and remove venues(admins)</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Manage venue capacity and location(admins)</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Approve venue requests(admins)</a:t>
            </a:r>
          </a:p>
          <a:p>
            <a:pPr marL="285750" indent="-285750">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Track seat availability</a:t>
            </a:r>
          </a:p>
          <a:p>
            <a:endParaRPr lang="en-US" sz="1600" dirty="0">
              <a:latin typeface="Times New Roman" panose="02020603050405020304" pitchFamily="18" charset="0"/>
              <a:cs typeface="Times New Roman" panose="02020603050405020304" pitchFamily="18" charset="0"/>
            </a:endParaRPr>
          </a:p>
          <a:p>
            <a:endParaRPr lang="en-US" dirty="0"/>
          </a:p>
        </p:txBody>
      </p:sp>
      <p:grpSp>
        <p:nvGrpSpPr>
          <p:cNvPr id="6" name="Group 5">
            <a:extLst>
              <a:ext uri="{FF2B5EF4-FFF2-40B4-BE49-F238E27FC236}">
                <a16:creationId xmlns:a16="http://schemas.microsoft.com/office/drawing/2014/main" id="{EF648258-1B74-5792-776F-2192B142D887}"/>
              </a:ext>
            </a:extLst>
          </p:cNvPr>
          <p:cNvGrpSpPr/>
          <p:nvPr/>
        </p:nvGrpSpPr>
        <p:grpSpPr>
          <a:xfrm>
            <a:off x="391885" y="6174352"/>
            <a:ext cx="4886323" cy="388987"/>
            <a:chOff x="618333" y="6026099"/>
            <a:chExt cx="4886323" cy="388987"/>
          </a:xfrm>
        </p:grpSpPr>
        <p:sp>
          <p:nvSpPr>
            <p:cNvPr id="7" name="TextBox 6">
              <a:extLst>
                <a:ext uri="{FF2B5EF4-FFF2-40B4-BE49-F238E27FC236}">
                  <a16:creationId xmlns:a16="http://schemas.microsoft.com/office/drawing/2014/main" id="{1E86EFB3-BF13-382E-FF4C-29844E4D2943}"/>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8" name="Graphic 7">
              <a:extLst>
                <a:ext uri="{FF2B5EF4-FFF2-40B4-BE49-F238E27FC236}">
                  <a16:creationId xmlns:a16="http://schemas.microsoft.com/office/drawing/2014/main" id="{EC632CC6-1A42-886F-26F4-57FD5A5981A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9" name="Straight Connector 8">
              <a:extLst>
                <a:ext uri="{FF2B5EF4-FFF2-40B4-BE49-F238E27FC236}">
                  <a16:creationId xmlns:a16="http://schemas.microsoft.com/office/drawing/2014/main" id="{DAC95570-A61C-70B4-120D-914024B412B4}"/>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2" name="Flowchart: Connector 1">
            <a:extLst>
              <a:ext uri="{FF2B5EF4-FFF2-40B4-BE49-F238E27FC236}">
                <a16:creationId xmlns:a16="http://schemas.microsoft.com/office/drawing/2014/main" id="{47D34001-090B-222C-953D-1EE0B814F851}"/>
              </a:ext>
            </a:extLst>
          </p:cNvPr>
          <p:cNvSpPr/>
          <p:nvPr/>
        </p:nvSpPr>
        <p:spPr>
          <a:xfrm>
            <a:off x="11035304" y="4651039"/>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lowchart: Connector 2">
            <a:extLst>
              <a:ext uri="{FF2B5EF4-FFF2-40B4-BE49-F238E27FC236}">
                <a16:creationId xmlns:a16="http://schemas.microsoft.com/office/drawing/2014/main" id="{8D4E6FEA-E172-C451-0022-0DB4C9F174DC}"/>
              </a:ext>
            </a:extLst>
          </p:cNvPr>
          <p:cNvSpPr/>
          <p:nvPr/>
        </p:nvSpPr>
        <p:spPr>
          <a:xfrm>
            <a:off x="6700282" y="462994"/>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BA247882-1798-6949-C538-8BF0F5FE95A1}"/>
              </a:ext>
            </a:extLst>
          </p:cNvPr>
          <p:cNvSpPr/>
          <p:nvPr/>
        </p:nvSpPr>
        <p:spPr>
          <a:xfrm>
            <a:off x="5735478" y="4866939"/>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lowchart: Connector 9">
            <a:extLst>
              <a:ext uri="{FF2B5EF4-FFF2-40B4-BE49-F238E27FC236}">
                <a16:creationId xmlns:a16="http://schemas.microsoft.com/office/drawing/2014/main" id="{88C9AA6B-B661-76F6-B986-382AB658075D}"/>
              </a:ext>
            </a:extLst>
          </p:cNvPr>
          <p:cNvSpPr/>
          <p:nvPr/>
        </p:nvSpPr>
        <p:spPr>
          <a:xfrm>
            <a:off x="3218429" y="6344370"/>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40432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82B121-A06A-DE81-D510-E17A785928C3}"/>
              </a:ext>
            </a:extLst>
          </p:cNvPr>
          <p:cNvSpPr>
            <a:spLocks noGrp="1"/>
          </p:cNvSpPr>
          <p:nvPr>
            <p:ph idx="1"/>
          </p:nvPr>
        </p:nvSpPr>
        <p:spPr>
          <a:xfrm>
            <a:off x="544286" y="443139"/>
            <a:ext cx="10515600" cy="4351338"/>
          </a:xfrm>
        </p:spPr>
        <p:txBody>
          <a:bodyPr>
            <a:noAutofit/>
          </a:bodyPr>
          <a:lstStyle/>
          <a:p>
            <a:pPr marL="0" indent="0">
              <a:buNone/>
            </a:pPr>
            <a:r>
              <a:rPr lang="en-US" sz="2000" b="1" dirty="0">
                <a:latin typeface="Times New Roman" panose="02020603050405020304" pitchFamily="18" charset="0"/>
                <a:cs typeface="Times New Roman" panose="02020603050405020304" pitchFamily="18" charset="0"/>
              </a:rPr>
              <a:t>5. Ticket Booking Module</a:t>
            </a:r>
          </a:p>
          <a:p>
            <a:r>
              <a:rPr lang="en-US" sz="2000" dirty="0">
                <a:latin typeface="Times New Roman" panose="02020603050405020304" pitchFamily="18" charset="0"/>
                <a:cs typeface="Times New Roman" panose="02020603050405020304" pitchFamily="18" charset="0"/>
              </a:rPr>
              <a:t>Purpose: Allow users to reserve seats/tickets.</a:t>
            </a:r>
          </a:p>
          <a:p>
            <a:r>
              <a:rPr lang="en-US" sz="2000" dirty="0">
                <a:latin typeface="Times New Roman" panose="02020603050405020304" pitchFamily="18" charset="0"/>
                <a:cs typeface="Times New Roman" panose="02020603050405020304" pitchFamily="18" charset="0"/>
              </a:rPr>
              <a:t>Features:</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Browse events and available seats</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Real-time seat availability check</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Book and cancel tickets</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Generate unique ticket IDs</a:t>
            </a:r>
          </a:p>
          <a:p>
            <a:pPr marL="0" indent="0">
              <a:buNone/>
            </a:pPr>
            <a:r>
              <a:rPr lang="en-US" sz="2000" b="1" dirty="0">
                <a:latin typeface="Times New Roman" panose="02020603050405020304" pitchFamily="18" charset="0"/>
                <a:cs typeface="Times New Roman" panose="02020603050405020304" pitchFamily="18" charset="0"/>
              </a:rPr>
              <a:t>6. Logging &amp; Exception Handling Module</a:t>
            </a:r>
          </a:p>
          <a:p>
            <a:r>
              <a:rPr lang="en-US" sz="2000" dirty="0">
                <a:latin typeface="Times New Roman" panose="02020603050405020304" pitchFamily="18" charset="0"/>
                <a:cs typeface="Times New Roman" panose="02020603050405020304" pitchFamily="18" charset="0"/>
              </a:rPr>
              <a:t>Purpose: </a:t>
            </a:r>
          </a:p>
          <a:p>
            <a:pPr marL="0" indent="0">
              <a:buNone/>
            </a:pPr>
            <a:r>
              <a:rPr lang="en-US" sz="2000" dirty="0">
                <a:latin typeface="Times New Roman" panose="02020603050405020304" pitchFamily="18" charset="0"/>
                <a:cs typeface="Times New Roman" panose="02020603050405020304" pitchFamily="18" charset="0"/>
              </a:rPr>
              <a:t>Ensure maintainability, traceability, and debugging.</a:t>
            </a:r>
          </a:p>
          <a:p>
            <a:r>
              <a:rPr lang="en-US" sz="2000" dirty="0">
                <a:latin typeface="Times New Roman" panose="02020603050405020304" pitchFamily="18" charset="0"/>
                <a:cs typeface="Times New Roman" panose="02020603050405020304" pitchFamily="18" charset="0"/>
              </a:rPr>
              <a:t>Features:</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Centralized logging for system activities</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Exception handling for API requests</a:t>
            </a:r>
          </a:p>
          <a:p>
            <a:pPr>
              <a:buFont typeface="Courier New" panose="02070309020205020404" pitchFamily="49" charset="0"/>
              <a:buChar char="o"/>
            </a:pPr>
            <a:r>
              <a:rPr lang="en-US" sz="2000" dirty="0">
                <a:latin typeface="Times New Roman" panose="02020603050405020304" pitchFamily="18" charset="0"/>
                <a:cs typeface="Times New Roman" panose="02020603050405020304" pitchFamily="18" charset="0"/>
              </a:rPr>
              <a:t>  Error notifications for admins</a:t>
            </a:r>
          </a:p>
          <a:p>
            <a:pPr marL="0" indent="0">
              <a:buNone/>
            </a:pPr>
            <a:endParaRPr lang="en-IN" sz="2000" dirty="0"/>
          </a:p>
        </p:txBody>
      </p:sp>
      <p:grpSp>
        <p:nvGrpSpPr>
          <p:cNvPr id="2" name="Group 1">
            <a:extLst>
              <a:ext uri="{FF2B5EF4-FFF2-40B4-BE49-F238E27FC236}">
                <a16:creationId xmlns:a16="http://schemas.microsoft.com/office/drawing/2014/main" id="{560D9B5C-DDA0-964A-BE20-C7991B084C8B}"/>
              </a:ext>
            </a:extLst>
          </p:cNvPr>
          <p:cNvGrpSpPr/>
          <p:nvPr/>
        </p:nvGrpSpPr>
        <p:grpSpPr>
          <a:xfrm>
            <a:off x="446314" y="6216671"/>
            <a:ext cx="4821009" cy="388987"/>
            <a:chOff x="683647" y="6026099"/>
            <a:chExt cx="4821009" cy="388987"/>
          </a:xfrm>
        </p:grpSpPr>
        <p:sp>
          <p:nvSpPr>
            <p:cNvPr id="4" name="TextBox 3">
              <a:extLst>
                <a:ext uri="{FF2B5EF4-FFF2-40B4-BE49-F238E27FC236}">
                  <a16:creationId xmlns:a16="http://schemas.microsoft.com/office/drawing/2014/main" id="{9ED3E4B4-980A-B2DC-0149-29436A9D284D}"/>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5" name="Graphic 4">
              <a:extLst>
                <a:ext uri="{FF2B5EF4-FFF2-40B4-BE49-F238E27FC236}">
                  <a16:creationId xmlns:a16="http://schemas.microsoft.com/office/drawing/2014/main" id="{ED308C4A-0A87-F679-180B-BCA6CECB9D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3647" y="6026099"/>
              <a:ext cx="353218" cy="388987"/>
            </a:xfrm>
            <a:prstGeom prst="rect">
              <a:avLst/>
            </a:prstGeom>
          </p:spPr>
        </p:pic>
        <p:cxnSp>
          <p:nvCxnSpPr>
            <p:cNvPr id="6" name="Straight Connector 5">
              <a:extLst>
                <a:ext uri="{FF2B5EF4-FFF2-40B4-BE49-F238E27FC236}">
                  <a16:creationId xmlns:a16="http://schemas.microsoft.com/office/drawing/2014/main" id="{4A934E01-7F54-498A-9B34-266E87C5471F}"/>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7" name="Flowchart: Connector 6">
            <a:extLst>
              <a:ext uri="{FF2B5EF4-FFF2-40B4-BE49-F238E27FC236}">
                <a16:creationId xmlns:a16="http://schemas.microsoft.com/office/drawing/2014/main" id="{4E27A4F2-343C-FF9D-2CB1-ADC5837721C2}"/>
              </a:ext>
            </a:extLst>
          </p:cNvPr>
          <p:cNvSpPr/>
          <p:nvPr/>
        </p:nvSpPr>
        <p:spPr>
          <a:xfrm>
            <a:off x="11438075" y="4140541"/>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lowchart: Connector 7">
            <a:extLst>
              <a:ext uri="{FF2B5EF4-FFF2-40B4-BE49-F238E27FC236}">
                <a16:creationId xmlns:a16="http://schemas.microsoft.com/office/drawing/2014/main" id="{A84C81C8-700C-A6B4-89C0-8EA4791C383C}"/>
              </a:ext>
            </a:extLst>
          </p:cNvPr>
          <p:cNvSpPr/>
          <p:nvPr/>
        </p:nvSpPr>
        <p:spPr>
          <a:xfrm>
            <a:off x="6700282" y="462994"/>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lowchart: Connector 8">
            <a:extLst>
              <a:ext uri="{FF2B5EF4-FFF2-40B4-BE49-F238E27FC236}">
                <a16:creationId xmlns:a16="http://schemas.microsoft.com/office/drawing/2014/main" id="{55B69967-1F9C-1D79-CF5A-8FAE147A8664}"/>
              </a:ext>
            </a:extLst>
          </p:cNvPr>
          <p:cNvSpPr/>
          <p:nvPr/>
        </p:nvSpPr>
        <p:spPr>
          <a:xfrm>
            <a:off x="155176" y="4637046"/>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lowchart: Connector 9">
            <a:extLst>
              <a:ext uri="{FF2B5EF4-FFF2-40B4-BE49-F238E27FC236}">
                <a16:creationId xmlns:a16="http://schemas.microsoft.com/office/drawing/2014/main" id="{23E124A9-E6EE-4CD0-5D58-B79489F08A2A}"/>
              </a:ext>
            </a:extLst>
          </p:cNvPr>
          <p:cNvSpPr/>
          <p:nvPr/>
        </p:nvSpPr>
        <p:spPr>
          <a:xfrm>
            <a:off x="3218429" y="6344370"/>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988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4AF3B-29DB-7E6B-D385-6CEEF21F371E}"/>
              </a:ext>
            </a:extLst>
          </p:cNvPr>
          <p:cNvSpPr>
            <a:spLocks noGrp="1"/>
          </p:cNvSpPr>
          <p:nvPr>
            <p:ph type="title"/>
          </p:nvPr>
        </p:nvSpPr>
        <p:spPr>
          <a:xfrm>
            <a:off x="838200" y="225188"/>
            <a:ext cx="10515600" cy="429531"/>
          </a:xfrm>
        </p:spPr>
        <p:txBody>
          <a:bodyPr>
            <a:noAutofit/>
          </a:bodyPr>
          <a:lstStyle/>
          <a:p>
            <a:pPr algn="ctr"/>
            <a:r>
              <a:rPr lang="en-US" b="1" dirty="0">
                <a:solidFill>
                  <a:schemeClr val="accent1"/>
                </a:solidFill>
                <a:latin typeface="Poppins" panose="00000500000000000000" pitchFamily="2" charset="0"/>
                <a:cs typeface="Poppins" panose="00000500000000000000" pitchFamily="2" charset="0"/>
              </a:rPr>
              <a:t>API Endpoint Overview</a:t>
            </a:r>
            <a:endParaRPr lang="en-IN" b="1" dirty="0">
              <a:solidFill>
                <a:schemeClr val="accent1"/>
              </a:solidFill>
              <a:latin typeface="Poppins" panose="00000500000000000000" pitchFamily="2" charset="0"/>
              <a:cs typeface="Poppins" panose="00000500000000000000" pitchFamily="2" charset="0"/>
            </a:endParaRPr>
          </a:p>
        </p:txBody>
      </p:sp>
      <p:graphicFrame>
        <p:nvGraphicFramePr>
          <p:cNvPr id="10" name="Content Placeholder 9">
            <a:extLst>
              <a:ext uri="{FF2B5EF4-FFF2-40B4-BE49-F238E27FC236}">
                <a16:creationId xmlns:a16="http://schemas.microsoft.com/office/drawing/2014/main" id="{62521E12-ABB7-B438-1B02-514DA8CD1360}"/>
              </a:ext>
            </a:extLst>
          </p:cNvPr>
          <p:cNvGraphicFramePr>
            <a:graphicFrameLocks noGrp="1"/>
          </p:cNvGraphicFramePr>
          <p:nvPr>
            <p:ph idx="1"/>
            <p:extLst>
              <p:ext uri="{D42A27DB-BD31-4B8C-83A1-F6EECF244321}">
                <p14:modId xmlns:p14="http://schemas.microsoft.com/office/powerpoint/2010/main" val="1713057488"/>
              </p:ext>
            </p:extLst>
          </p:nvPr>
        </p:nvGraphicFramePr>
        <p:xfrm>
          <a:off x="391886" y="1082468"/>
          <a:ext cx="11321143" cy="4310552"/>
        </p:xfrm>
        <a:graphic>
          <a:graphicData uri="http://schemas.openxmlformats.org/drawingml/2006/table">
            <a:tbl>
              <a:tblPr firstRow="1" bandRow="1">
                <a:tableStyleId>{93296810-A885-4BE3-A3E7-6D5BEEA58F35}</a:tableStyleId>
              </a:tblPr>
              <a:tblGrid>
                <a:gridCol w="2053826">
                  <a:extLst>
                    <a:ext uri="{9D8B030D-6E8A-4147-A177-3AD203B41FA5}">
                      <a16:colId xmlns:a16="http://schemas.microsoft.com/office/drawing/2014/main" val="1418036167"/>
                    </a:ext>
                  </a:extLst>
                </a:gridCol>
                <a:gridCol w="7423541">
                  <a:extLst>
                    <a:ext uri="{9D8B030D-6E8A-4147-A177-3AD203B41FA5}">
                      <a16:colId xmlns:a16="http://schemas.microsoft.com/office/drawing/2014/main" val="3593821424"/>
                    </a:ext>
                  </a:extLst>
                </a:gridCol>
                <a:gridCol w="1843776">
                  <a:extLst>
                    <a:ext uri="{9D8B030D-6E8A-4147-A177-3AD203B41FA5}">
                      <a16:colId xmlns:a16="http://schemas.microsoft.com/office/drawing/2014/main" val="3273815501"/>
                    </a:ext>
                  </a:extLst>
                </a:gridCol>
              </a:tblGrid>
              <a:tr h="476535">
                <a:tc>
                  <a:txBody>
                    <a:bodyPr/>
                    <a:lstStyle/>
                    <a:p>
                      <a:pPr algn="ctr"/>
                      <a:r>
                        <a:rPr lang="en-US" dirty="0"/>
                        <a:t>Accessed Tokens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t>Endpoints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t>Count endpoints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96466571"/>
                  </a:ext>
                </a:extLst>
              </a:tr>
              <a:tr h="1321717">
                <a:tc>
                  <a:txBody>
                    <a:bodyPr/>
                    <a:lstStyle/>
                    <a:p>
                      <a:r>
                        <a:rPr lang="en-US" sz="1800" b="1" dirty="0"/>
                        <a:t>Users Accessed Endpoints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b="1" dirty="0"/>
                        <a:t>User</a:t>
                      </a:r>
                      <a:r>
                        <a:rPr lang="en-US" sz="1800" dirty="0"/>
                        <a:t>---Register-user, Login-user, Get-user-info, Update-user, Logout-user Delete –user(with user token)</a:t>
                      </a:r>
                      <a:br>
                        <a:rPr lang="en-US" sz="1800" dirty="0"/>
                      </a:br>
                      <a:r>
                        <a:rPr lang="en-US" sz="1800" b="1" dirty="0"/>
                        <a:t>Events</a:t>
                      </a:r>
                      <a:r>
                        <a:rPr lang="en-US" sz="1800" dirty="0"/>
                        <a:t>---Get-all-events, Get-evet-by-id, Get-event-by-type</a:t>
                      </a:r>
                      <a:br>
                        <a:rPr lang="en-US" sz="1800" dirty="0"/>
                      </a:br>
                      <a:r>
                        <a:rPr lang="en-US" sz="1800" b="1" dirty="0"/>
                        <a:t>Venue</a:t>
                      </a:r>
                      <a:r>
                        <a:rPr lang="en-US" sz="1800" dirty="0"/>
                        <a:t>--- Get-venue-by-id , Get-venue-by-type, Get-all-venues</a:t>
                      </a:r>
                      <a:br>
                        <a:rPr lang="en-US" sz="1800" dirty="0"/>
                      </a:br>
                      <a:r>
                        <a:rPr lang="en-US" sz="1800" b="1" dirty="0"/>
                        <a:t>Bookings</a:t>
                      </a:r>
                      <a:r>
                        <a:rPr lang="en-US" sz="1800" dirty="0"/>
                        <a:t>---Book-Seats, Get-user-bookings-info, Cancel-Bookings</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t>6 Endpoints</a:t>
                      </a:r>
                      <a:br>
                        <a:rPr lang="en-US" sz="1800" dirty="0"/>
                      </a:br>
                      <a:endParaRPr lang="en-US" sz="1800" dirty="0"/>
                    </a:p>
                    <a:p>
                      <a:r>
                        <a:rPr lang="en-US" sz="1800" dirty="0"/>
                        <a:t>3 Endpoints</a:t>
                      </a:r>
                      <a:br>
                        <a:rPr lang="en-US" sz="1800" dirty="0"/>
                      </a:br>
                      <a:r>
                        <a:rPr lang="en-US" sz="1800" dirty="0"/>
                        <a:t>3 Endpoints</a:t>
                      </a:r>
                      <a:br>
                        <a:rPr lang="en-US" sz="1800" dirty="0"/>
                      </a:br>
                      <a:r>
                        <a:rPr lang="en-US" sz="1800" dirty="0"/>
                        <a:t>3 Endpoints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98438412"/>
                  </a:ext>
                </a:extLst>
              </a:tr>
              <a:tr h="2370977">
                <a:tc>
                  <a:txBody>
                    <a:bodyPr/>
                    <a:lstStyle/>
                    <a:p>
                      <a:r>
                        <a:rPr lang="en-US" sz="1800" b="1" dirty="0"/>
                        <a:t>Admin Accessed Endpoints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US" sz="1800" b="1" dirty="0"/>
                        <a:t>Admin</a:t>
                      </a:r>
                      <a:r>
                        <a:rPr lang="en-US" sz="1800" dirty="0"/>
                        <a:t> ----Register-Admin, Login-admin, Get-admin-info, Get-all-Users, Get-all-admins, Update-admin, Delete-admin, Logout-admin</a:t>
                      </a:r>
                      <a:br>
                        <a:rPr lang="en-US" sz="1800" dirty="0"/>
                      </a:br>
                      <a:r>
                        <a:rPr lang="en-US" sz="1800" b="1" dirty="0"/>
                        <a:t>Events</a:t>
                      </a:r>
                      <a:r>
                        <a:rPr lang="en-US" sz="1800" dirty="0"/>
                        <a:t>---Create-Event, Update-Event, Delete-Event, Get-all-events, Get-evet-by-id, Get-event-by-type</a:t>
                      </a:r>
                      <a:br>
                        <a:rPr lang="en-US" sz="1800" dirty="0"/>
                      </a:br>
                      <a:r>
                        <a:rPr lang="en-US" sz="1800" b="1" dirty="0"/>
                        <a:t>Venue</a:t>
                      </a:r>
                      <a:r>
                        <a:rPr lang="en-US" sz="1800" dirty="0"/>
                        <a:t>---Create-Venue, Update-Venue, Delete-</a:t>
                      </a:r>
                      <a:r>
                        <a:rPr lang="en-US" sz="1800" dirty="0" err="1"/>
                        <a:t>Vneue</a:t>
                      </a:r>
                      <a:r>
                        <a:rPr lang="en-US" sz="1800" dirty="0"/>
                        <a:t>, Get-venue-by-id , Get-venue-by-type, Get-all-venues</a:t>
                      </a:r>
                      <a:br>
                        <a:rPr lang="en-US" sz="1800" dirty="0"/>
                      </a:br>
                      <a:r>
                        <a:rPr lang="en-US" sz="1800" b="1" dirty="0"/>
                        <a:t>Bookings</a:t>
                      </a:r>
                      <a:r>
                        <a:rPr lang="en-US" sz="1800" dirty="0"/>
                        <a:t> ---Get-all-user-bookings, Approve-Booking, Reject-Booking</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dirty="0"/>
                        <a:t>8 Endpoints</a:t>
                      </a:r>
                      <a:br>
                        <a:rPr lang="en-US" sz="1800" dirty="0"/>
                      </a:br>
                      <a:br>
                        <a:rPr lang="en-US" sz="1800" dirty="0"/>
                      </a:br>
                      <a:r>
                        <a:rPr lang="en-US" sz="1800" dirty="0"/>
                        <a:t>6 Endpoints</a:t>
                      </a:r>
                    </a:p>
                    <a:p>
                      <a:endParaRPr lang="en-US" sz="1800" dirty="0"/>
                    </a:p>
                    <a:p>
                      <a:r>
                        <a:rPr lang="en-US" sz="1800" dirty="0"/>
                        <a:t>6 Endpoints</a:t>
                      </a:r>
                      <a:br>
                        <a:rPr lang="en-US" sz="1800" dirty="0"/>
                      </a:br>
                      <a:endParaRPr lang="en-US" sz="1800" dirty="0"/>
                    </a:p>
                    <a:p>
                      <a:r>
                        <a:rPr lang="en-US" sz="1800" dirty="0"/>
                        <a:t>3 Endpoints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89704415"/>
                  </a:ext>
                </a:extLst>
              </a:tr>
            </a:tbl>
          </a:graphicData>
        </a:graphic>
      </p:graphicFrame>
      <p:grpSp>
        <p:nvGrpSpPr>
          <p:cNvPr id="11" name="Group 10">
            <a:extLst>
              <a:ext uri="{FF2B5EF4-FFF2-40B4-BE49-F238E27FC236}">
                <a16:creationId xmlns:a16="http://schemas.microsoft.com/office/drawing/2014/main" id="{2D6C95FA-D889-5AE9-1C6B-A1890C1CD827}"/>
              </a:ext>
            </a:extLst>
          </p:cNvPr>
          <p:cNvGrpSpPr/>
          <p:nvPr/>
        </p:nvGrpSpPr>
        <p:grpSpPr>
          <a:xfrm>
            <a:off x="391886" y="6222180"/>
            <a:ext cx="4886323" cy="388987"/>
            <a:chOff x="618333" y="6026099"/>
            <a:chExt cx="4886323" cy="388987"/>
          </a:xfrm>
        </p:grpSpPr>
        <p:sp>
          <p:nvSpPr>
            <p:cNvPr id="12" name="TextBox 11">
              <a:extLst>
                <a:ext uri="{FF2B5EF4-FFF2-40B4-BE49-F238E27FC236}">
                  <a16:creationId xmlns:a16="http://schemas.microsoft.com/office/drawing/2014/main" id="{E149DB78-1A70-58C7-30D9-8B8AC4D8FCC8}"/>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13" name="Graphic 12">
              <a:extLst>
                <a:ext uri="{FF2B5EF4-FFF2-40B4-BE49-F238E27FC236}">
                  <a16:creationId xmlns:a16="http://schemas.microsoft.com/office/drawing/2014/main" id="{CF99CC00-8162-EADA-0B6E-319765A5685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14" name="Straight Connector 13">
              <a:extLst>
                <a:ext uri="{FF2B5EF4-FFF2-40B4-BE49-F238E27FC236}">
                  <a16:creationId xmlns:a16="http://schemas.microsoft.com/office/drawing/2014/main" id="{65D9C22E-3438-B3C4-2BCE-9E45821EF20B}"/>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3" name="Flowchart: Connector 2">
            <a:extLst>
              <a:ext uri="{FF2B5EF4-FFF2-40B4-BE49-F238E27FC236}">
                <a16:creationId xmlns:a16="http://schemas.microsoft.com/office/drawing/2014/main" id="{FA17ED54-10F6-90C1-E6F1-5EAECEEEDA34}"/>
              </a:ext>
            </a:extLst>
          </p:cNvPr>
          <p:cNvSpPr/>
          <p:nvPr/>
        </p:nvSpPr>
        <p:spPr>
          <a:xfrm>
            <a:off x="11079390" y="5976258"/>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644288C0-CC8B-EE3C-12BF-A37177049769}"/>
              </a:ext>
            </a:extLst>
          </p:cNvPr>
          <p:cNvSpPr/>
          <p:nvPr/>
        </p:nvSpPr>
        <p:spPr>
          <a:xfrm>
            <a:off x="9693854" y="275771"/>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45B67660-55BE-207D-B6F3-0BEDAC7B57F5}"/>
              </a:ext>
            </a:extLst>
          </p:cNvPr>
          <p:cNvSpPr/>
          <p:nvPr/>
        </p:nvSpPr>
        <p:spPr>
          <a:xfrm>
            <a:off x="4751047" y="6131748"/>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0A5D2187-E3FF-309D-0B17-3C5DE2B53F4E}"/>
              </a:ext>
            </a:extLst>
          </p:cNvPr>
          <p:cNvSpPr/>
          <p:nvPr/>
        </p:nvSpPr>
        <p:spPr>
          <a:xfrm>
            <a:off x="252186" y="466272"/>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42399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43EFF-F6C5-EFFF-AD31-C2F33F4AE46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49BC350-0C97-E030-42D9-939635FAD2DB}"/>
              </a:ext>
            </a:extLst>
          </p:cNvPr>
          <p:cNvPicPr>
            <a:picLocks noChangeAspect="1"/>
          </p:cNvPicPr>
          <p:nvPr/>
        </p:nvPicPr>
        <p:blipFill>
          <a:blip r:embed="rId2"/>
          <a:stretch>
            <a:fillRect/>
          </a:stretch>
        </p:blipFill>
        <p:spPr>
          <a:xfrm>
            <a:off x="7677150" y="642259"/>
            <a:ext cx="3705225" cy="5110840"/>
          </a:xfrm>
          <a:prstGeom prst="rect">
            <a:avLst/>
          </a:prstGeom>
        </p:spPr>
      </p:pic>
      <p:grpSp>
        <p:nvGrpSpPr>
          <p:cNvPr id="19" name="Group 18">
            <a:extLst>
              <a:ext uri="{FF2B5EF4-FFF2-40B4-BE49-F238E27FC236}">
                <a16:creationId xmlns:a16="http://schemas.microsoft.com/office/drawing/2014/main" id="{81A79AC4-6AE2-9671-7858-54028197D818}"/>
              </a:ext>
            </a:extLst>
          </p:cNvPr>
          <p:cNvGrpSpPr/>
          <p:nvPr/>
        </p:nvGrpSpPr>
        <p:grpSpPr>
          <a:xfrm>
            <a:off x="732633" y="6026099"/>
            <a:ext cx="4886323" cy="388987"/>
            <a:chOff x="618333" y="6026099"/>
            <a:chExt cx="4886323" cy="388987"/>
          </a:xfrm>
        </p:grpSpPr>
        <p:sp>
          <p:nvSpPr>
            <p:cNvPr id="6" name="TextBox 5">
              <a:extLst>
                <a:ext uri="{FF2B5EF4-FFF2-40B4-BE49-F238E27FC236}">
                  <a16:creationId xmlns:a16="http://schemas.microsoft.com/office/drawing/2014/main" id="{2D055E35-3DBC-BD2D-AB11-F0CB4FAED952}"/>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8" name="Graphic 7">
              <a:extLst>
                <a:ext uri="{FF2B5EF4-FFF2-40B4-BE49-F238E27FC236}">
                  <a16:creationId xmlns:a16="http://schemas.microsoft.com/office/drawing/2014/main" id="{41E51DF7-86D2-F4F2-7A85-D5848265413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10" name="Straight Connector 9">
              <a:extLst>
                <a:ext uri="{FF2B5EF4-FFF2-40B4-BE49-F238E27FC236}">
                  <a16:creationId xmlns:a16="http://schemas.microsoft.com/office/drawing/2014/main" id="{5AF2B75C-C20E-1989-B1BA-CF9A30CB9D52}"/>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12" name="TextBox 11">
            <a:extLst>
              <a:ext uri="{FF2B5EF4-FFF2-40B4-BE49-F238E27FC236}">
                <a16:creationId xmlns:a16="http://schemas.microsoft.com/office/drawing/2014/main" id="{95570E10-027B-303D-0356-0EF58D402A6F}"/>
              </a:ext>
            </a:extLst>
          </p:cNvPr>
          <p:cNvSpPr txBox="1"/>
          <p:nvPr/>
        </p:nvSpPr>
        <p:spPr>
          <a:xfrm>
            <a:off x="629218" y="1012488"/>
            <a:ext cx="6150762" cy="4647426"/>
          </a:xfrm>
          <a:prstGeom prst="rect">
            <a:avLst/>
          </a:prstGeom>
          <a:noFill/>
        </p:spPr>
        <p:txBody>
          <a:bodyPr wrap="square" rtlCol="0">
            <a:spAutoFit/>
          </a:bodyPr>
          <a:lstStyle/>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 </a:t>
            </a:r>
            <a:r>
              <a:rPr lang="en-US" sz="2000" b="1" dirty="0">
                <a:solidFill>
                  <a:srgbClr val="1B134C"/>
                </a:solidFill>
                <a:latin typeface="Times New Roman" panose="02020603050405020304" pitchFamily="18" charset="0"/>
                <a:cs typeface="Times New Roman" panose="02020603050405020304" pitchFamily="18" charset="0"/>
              </a:rPr>
              <a:t>Asynchronous </a:t>
            </a:r>
            <a:r>
              <a:rPr lang="en-US" sz="2000" b="1" dirty="0" err="1">
                <a:solidFill>
                  <a:srgbClr val="1B134C"/>
                </a:solidFill>
                <a:latin typeface="Times New Roman" panose="02020603050405020304" pitchFamily="18" charset="0"/>
                <a:cs typeface="Times New Roman" panose="02020603050405020304" pitchFamily="18" charset="0"/>
              </a:rPr>
              <a:t>FastAPI</a:t>
            </a:r>
            <a:r>
              <a:rPr lang="en-US" sz="2000" b="1" dirty="0">
                <a:solidFill>
                  <a:srgbClr val="1B134C"/>
                </a:solidFill>
                <a:latin typeface="Times New Roman" panose="02020603050405020304" pitchFamily="18" charset="0"/>
                <a:cs typeface="Times New Roman" panose="02020603050405020304" pitchFamily="18" charset="0"/>
              </a:rPr>
              <a:t> Backend </a:t>
            </a:r>
            <a:r>
              <a:rPr lang="en-US" sz="2000" dirty="0">
                <a:solidFill>
                  <a:srgbClr val="1B134C"/>
                </a:solidFill>
                <a:latin typeface="Times New Roman" panose="02020603050405020304" pitchFamily="18" charset="0"/>
                <a:cs typeface="Times New Roman" panose="02020603050405020304" pitchFamily="18" charset="0"/>
              </a:rPr>
              <a:t>– High-performance API design. </a:t>
            </a: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MongoDB Integration </a:t>
            </a:r>
            <a:r>
              <a:rPr lang="en-US" sz="2000" dirty="0">
                <a:solidFill>
                  <a:srgbClr val="1B134C"/>
                </a:solidFill>
                <a:latin typeface="Times New Roman" panose="02020603050405020304" pitchFamily="18" charset="0"/>
                <a:cs typeface="Times New Roman" panose="02020603050405020304" pitchFamily="18" charset="0"/>
              </a:rPr>
              <a:t>– Efficient storage and retrieval with batch-wise inventory..</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 </a:t>
            </a:r>
            <a:r>
              <a:rPr lang="en-US" sz="2000" b="1" dirty="0">
                <a:solidFill>
                  <a:srgbClr val="1B134C"/>
                </a:solidFill>
                <a:latin typeface="Times New Roman" panose="02020603050405020304" pitchFamily="18" charset="0"/>
                <a:cs typeface="Times New Roman" panose="02020603050405020304" pitchFamily="18" charset="0"/>
              </a:rPr>
              <a:t>Centralized Exception Handling </a:t>
            </a:r>
            <a:r>
              <a:rPr lang="en-US" sz="2000" dirty="0">
                <a:solidFill>
                  <a:srgbClr val="1B134C"/>
                </a:solidFill>
                <a:latin typeface="Times New Roman" panose="02020603050405020304" pitchFamily="18" charset="0"/>
                <a:cs typeface="Times New Roman" panose="02020603050405020304" pitchFamily="18" charset="0"/>
              </a:rPr>
              <a:t>– Custom exception handling &amp; logging.</a:t>
            </a: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Scalable &amp; Modular Design </a:t>
            </a:r>
            <a:r>
              <a:rPr lang="en-US" sz="2000" dirty="0">
                <a:solidFill>
                  <a:srgbClr val="1B134C"/>
                </a:solidFill>
                <a:latin typeface="Times New Roman" panose="02020603050405020304" pitchFamily="18" charset="0"/>
                <a:cs typeface="Times New Roman" panose="02020603050405020304" pitchFamily="18" charset="0"/>
              </a:rPr>
              <a:t>– Easy to extend with new features.</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Secure JWT-based login.</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Role-based access (Admin/User).</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CRUD for Events, Venues, Users, Bookings.</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Real-time booking &amp; seat validation.</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Centralized exception handling &amp; logging.</a:t>
            </a:r>
          </a:p>
          <a:p>
            <a:pPr marL="285750" indent="-285750">
              <a:buFont typeface="Arial" panose="020B0604020202020204" pitchFamily="34" charset="0"/>
              <a:buChar char="•"/>
            </a:pPr>
            <a:r>
              <a:rPr lang="en-US" sz="2000" dirty="0">
                <a:solidFill>
                  <a:srgbClr val="1B134C"/>
                </a:solidFill>
                <a:latin typeface="Times New Roman" panose="02020603050405020304" pitchFamily="18" charset="0"/>
                <a:cs typeface="Times New Roman" panose="02020603050405020304" pitchFamily="18" charset="0"/>
              </a:rPr>
              <a:t>Sequence-based IDs for entities.</a:t>
            </a:r>
          </a:p>
          <a:p>
            <a:pPr marL="285750" indent="-285750">
              <a:buFont typeface="Arial" panose="020B0604020202020204" pitchFamily="34" charset="0"/>
              <a:buChar char="•"/>
            </a:pPr>
            <a:endParaRPr lang="en-US" sz="1600" dirty="0">
              <a:solidFill>
                <a:srgbClr val="1B134C"/>
              </a:solidFill>
              <a:latin typeface="Poppins" panose="00000500000000000000" pitchFamily="2" charset="0"/>
              <a:cs typeface="Poppins" panose="00000500000000000000" pitchFamily="2" charset="0"/>
            </a:endParaRPr>
          </a:p>
        </p:txBody>
      </p:sp>
      <p:sp>
        <p:nvSpPr>
          <p:cNvPr id="14" name="TextBox 13">
            <a:extLst>
              <a:ext uri="{FF2B5EF4-FFF2-40B4-BE49-F238E27FC236}">
                <a16:creationId xmlns:a16="http://schemas.microsoft.com/office/drawing/2014/main" id="{1BFA1E69-D7D7-9D67-0DA8-F80A91D17355}"/>
              </a:ext>
            </a:extLst>
          </p:cNvPr>
          <p:cNvSpPr txBox="1"/>
          <p:nvPr/>
        </p:nvSpPr>
        <p:spPr>
          <a:xfrm>
            <a:off x="2587697" y="211331"/>
            <a:ext cx="6314095" cy="605807"/>
          </a:xfrm>
          <a:prstGeom prst="rect">
            <a:avLst/>
          </a:prstGeom>
          <a:noFill/>
        </p:spPr>
        <p:txBody>
          <a:bodyPr wrap="square" rtlCol="0">
            <a:spAutoFit/>
          </a:bodyPr>
          <a:lstStyle/>
          <a:p>
            <a:pPr>
              <a:lnSpc>
                <a:spcPct val="70000"/>
              </a:lnSpc>
            </a:pPr>
            <a:r>
              <a:rPr lang="en-US" sz="4400" b="1" spc="-300" dirty="0">
                <a:solidFill>
                  <a:schemeClr val="accent1"/>
                </a:solidFill>
                <a:latin typeface="Poppins" panose="00000500000000000000" pitchFamily="2" charset="0"/>
                <a:cs typeface="Poppins" panose="00000500000000000000" pitchFamily="2" charset="0"/>
              </a:rPr>
              <a:t>Key Features</a:t>
            </a:r>
          </a:p>
        </p:txBody>
      </p:sp>
      <p:sp>
        <p:nvSpPr>
          <p:cNvPr id="17" name="Rectangle 16">
            <a:extLst>
              <a:ext uri="{FF2B5EF4-FFF2-40B4-BE49-F238E27FC236}">
                <a16:creationId xmlns:a16="http://schemas.microsoft.com/office/drawing/2014/main" id="{6BD3BEE6-024A-38BE-A7FC-D09695914594}"/>
              </a:ext>
            </a:extLst>
          </p:cNvPr>
          <p:cNvSpPr/>
          <p:nvPr/>
        </p:nvSpPr>
        <p:spPr>
          <a:xfrm>
            <a:off x="9725025" y="4267826"/>
            <a:ext cx="2057400" cy="1943100"/>
          </a:xfrm>
          <a:prstGeom prst="rect">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85AB1FD-EC42-4E54-4AAC-4B0FE1707991}"/>
              </a:ext>
            </a:extLst>
          </p:cNvPr>
          <p:cNvSpPr/>
          <p:nvPr/>
        </p:nvSpPr>
        <p:spPr>
          <a:xfrm>
            <a:off x="7448550" y="316207"/>
            <a:ext cx="542925" cy="1647826"/>
          </a:xfrm>
          <a:prstGeom prst="rect">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lowchart: Connector 1">
            <a:extLst>
              <a:ext uri="{FF2B5EF4-FFF2-40B4-BE49-F238E27FC236}">
                <a16:creationId xmlns:a16="http://schemas.microsoft.com/office/drawing/2014/main" id="{844D0134-D596-57CF-A336-7300031D3733}"/>
              </a:ext>
            </a:extLst>
          </p:cNvPr>
          <p:cNvSpPr/>
          <p:nvPr/>
        </p:nvSpPr>
        <p:spPr>
          <a:xfrm>
            <a:off x="7016750" y="6210926"/>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B35D9194-9BC9-C309-80D0-601CA4566797}"/>
              </a:ext>
            </a:extLst>
          </p:cNvPr>
          <p:cNvSpPr/>
          <p:nvPr/>
        </p:nvSpPr>
        <p:spPr>
          <a:xfrm>
            <a:off x="6616700" y="34164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CECCCFD9-D200-AA34-52A3-E43168A6EDA5}"/>
              </a:ext>
            </a:extLst>
          </p:cNvPr>
          <p:cNvSpPr/>
          <p:nvPr/>
        </p:nvSpPr>
        <p:spPr>
          <a:xfrm>
            <a:off x="2308297" y="5684429"/>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Connector 6">
            <a:extLst>
              <a:ext uri="{FF2B5EF4-FFF2-40B4-BE49-F238E27FC236}">
                <a16:creationId xmlns:a16="http://schemas.microsoft.com/office/drawing/2014/main" id="{A7375342-8B00-CFE5-C32A-2555A65D504A}"/>
              </a:ext>
            </a:extLst>
          </p:cNvPr>
          <p:cNvSpPr/>
          <p:nvPr/>
        </p:nvSpPr>
        <p:spPr>
          <a:xfrm>
            <a:off x="579732" y="642259"/>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04626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7BBCF-5F22-1428-AB75-3D835615CB71}"/>
              </a:ext>
            </a:extLst>
          </p:cNvPr>
          <p:cNvSpPr>
            <a:spLocks noGrp="1"/>
          </p:cNvSpPr>
          <p:nvPr>
            <p:ph type="title"/>
          </p:nvPr>
        </p:nvSpPr>
        <p:spPr>
          <a:xfrm>
            <a:off x="601152" y="247534"/>
            <a:ext cx="10515600" cy="658132"/>
          </a:xfrm>
        </p:spPr>
        <p:txBody>
          <a:bodyPr>
            <a:normAutofit fontScale="90000"/>
          </a:bodyPr>
          <a:lstStyle/>
          <a:p>
            <a:pPr algn="ctr"/>
            <a:br>
              <a:rPr lang="en-US" sz="4400" b="1" spc="-300" dirty="0">
                <a:solidFill>
                  <a:schemeClr val="bg1"/>
                </a:solidFill>
                <a:latin typeface="Poppins" panose="00000500000000000000" pitchFamily="2" charset="0"/>
                <a:cs typeface="Poppins" panose="00000500000000000000" pitchFamily="2" charset="0"/>
              </a:rPr>
            </a:br>
            <a:endParaRPr lang="en-IN" dirty="0"/>
          </a:p>
        </p:txBody>
      </p:sp>
      <p:sp>
        <p:nvSpPr>
          <p:cNvPr id="5" name="TextBox 4">
            <a:extLst>
              <a:ext uri="{FF2B5EF4-FFF2-40B4-BE49-F238E27FC236}">
                <a16:creationId xmlns:a16="http://schemas.microsoft.com/office/drawing/2014/main" id="{D3EFF317-6A61-8B63-6DF3-547BD4D224BD}"/>
              </a:ext>
            </a:extLst>
          </p:cNvPr>
          <p:cNvSpPr txBox="1"/>
          <p:nvPr/>
        </p:nvSpPr>
        <p:spPr>
          <a:xfrm>
            <a:off x="424543" y="1215909"/>
            <a:ext cx="11615058" cy="4708981"/>
          </a:xfrm>
          <a:prstGeom prst="rect">
            <a:avLst/>
          </a:prstGeom>
          <a:noFill/>
        </p:spPr>
        <p:txBody>
          <a:bodyPr wrap="square">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Developed </a:t>
            </a:r>
            <a:r>
              <a:rPr lang="en-IN" sz="2000" b="1" dirty="0">
                <a:latin typeface="Times New Roman" panose="02020603050405020304" pitchFamily="18" charset="0"/>
                <a:cs typeface="Times New Roman" panose="02020603050405020304" pitchFamily="18" charset="0"/>
              </a:rPr>
              <a:t>modular APIs</a:t>
            </a:r>
            <a:r>
              <a:rPr lang="en-IN" sz="2000" dirty="0">
                <a:latin typeface="Times New Roman" panose="02020603050405020304" pitchFamily="18" charset="0"/>
                <a:cs typeface="Times New Roman" panose="02020603050405020304" pitchFamily="18" charset="0"/>
              </a:rPr>
              <a:t> using </a:t>
            </a:r>
            <a:r>
              <a:rPr lang="en-IN" sz="2000" b="1" dirty="0" err="1">
                <a:latin typeface="Times New Roman" panose="02020603050405020304" pitchFamily="18" charset="0"/>
                <a:cs typeface="Times New Roman" panose="02020603050405020304" pitchFamily="18" charset="0"/>
              </a:rPr>
              <a:t>FastAPI</a:t>
            </a:r>
            <a:r>
              <a:rPr lang="en-IN" sz="2000" dirty="0">
                <a:latin typeface="Times New Roman" panose="02020603050405020304" pitchFamily="18" charset="0"/>
                <a:cs typeface="Times New Roman" panose="02020603050405020304" pitchFamily="18" charset="0"/>
              </a:rPr>
              <a:t> for clean and maintainable code.</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Implemented </a:t>
            </a:r>
            <a:r>
              <a:rPr lang="en-IN" sz="2000" b="1" dirty="0">
                <a:latin typeface="Times New Roman" panose="02020603050405020304" pitchFamily="18" charset="0"/>
                <a:cs typeface="Times New Roman" panose="02020603050405020304" pitchFamily="18" charset="0"/>
              </a:rPr>
              <a:t>asynchronous database operations </a:t>
            </a:r>
            <a:r>
              <a:rPr lang="en-IN" sz="2000" dirty="0">
                <a:latin typeface="Times New Roman" panose="02020603050405020304" pitchFamily="18" charset="0"/>
                <a:cs typeface="Times New Roman" panose="02020603050405020304" pitchFamily="18" charset="0"/>
              </a:rPr>
              <a:t>with MongoDB (Motor) for better performance.</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Built a </a:t>
            </a:r>
            <a:r>
              <a:rPr lang="en-IN" sz="2000" b="1" dirty="0">
                <a:latin typeface="Times New Roman" panose="02020603050405020304" pitchFamily="18" charset="0"/>
                <a:cs typeface="Times New Roman" panose="02020603050405020304" pitchFamily="18" charset="0"/>
              </a:rPr>
              <a:t>role-based JWT authentication system </a:t>
            </a:r>
            <a:r>
              <a:rPr lang="en-IN" sz="2000" dirty="0">
                <a:latin typeface="Times New Roman" panose="02020603050405020304" pitchFamily="18" charset="0"/>
                <a:cs typeface="Times New Roman" panose="02020603050405020304" pitchFamily="18" charset="0"/>
              </a:rPr>
              <a:t>for secure access control.</a:t>
            </a: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Applied </a:t>
            </a:r>
            <a:r>
              <a:rPr lang="en-IN" sz="2000" b="1" dirty="0">
                <a:latin typeface="Times New Roman" panose="02020603050405020304" pitchFamily="18" charset="0"/>
                <a:cs typeface="Times New Roman" panose="02020603050405020304" pitchFamily="18" charset="0"/>
              </a:rPr>
              <a:t>logging, exception handling, and input validations </a:t>
            </a:r>
            <a:r>
              <a:rPr lang="en-IN" sz="2000" dirty="0">
                <a:latin typeface="Times New Roman" panose="02020603050405020304" pitchFamily="18" charset="0"/>
                <a:cs typeface="Times New Roman" panose="02020603050405020304" pitchFamily="18" charset="0"/>
              </a:rPr>
              <a:t>for reliability.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Learned </a:t>
            </a:r>
            <a:r>
              <a:rPr lang="en-US" sz="2000" b="1" dirty="0">
                <a:latin typeface="Times New Roman" panose="02020603050405020304" pitchFamily="18" charset="0"/>
                <a:cs typeface="Times New Roman" panose="02020603050405020304" pitchFamily="18" charset="0"/>
              </a:rPr>
              <a:t>RESTful API design principles </a:t>
            </a:r>
            <a:r>
              <a:rPr lang="en-US" sz="2000" dirty="0">
                <a:latin typeface="Times New Roman" panose="02020603050405020304" pitchFamily="18" charset="0"/>
                <a:cs typeface="Times New Roman" panose="02020603050405020304" pitchFamily="18" charset="0"/>
              </a:rPr>
              <a:t>for efficient communication between admin and user.</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Managed </a:t>
            </a:r>
            <a:r>
              <a:rPr lang="en-US" sz="2000" b="1" dirty="0">
                <a:latin typeface="Times New Roman" panose="02020603050405020304" pitchFamily="18" charset="0"/>
                <a:cs typeface="Times New Roman" panose="02020603050405020304" pitchFamily="18" charset="0"/>
              </a:rPr>
              <a:t>user profiles, bookings, and events</a:t>
            </a:r>
            <a:r>
              <a:rPr lang="en-US" sz="2000" dirty="0">
                <a:latin typeface="Times New Roman" panose="02020603050405020304" pitchFamily="18" charset="0"/>
                <a:cs typeface="Times New Roman" panose="02020603050405020304" pitchFamily="18" charset="0"/>
              </a:rPr>
              <a:t> programmatically.</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Gained experience in </a:t>
            </a:r>
            <a:r>
              <a:rPr lang="en-US" sz="2000" b="1" dirty="0">
                <a:latin typeface="Times New Roman" panose="02020603050405020304" pitchFamily="18" charset="0"/>
                <a:cs typeface="Times New Roman" panose="02020603050405020304" pitchFamily="18" charset="0"/>
              </a:rPr>
              <a:t>integration of backend </a:t>
            </a:r>
            <a:r>
              <a:rPr lang="en-US" sz="2000" dirty="0">
                <a:latin typeface="Times New Roman" panose="02020603050405020304" pitchFamily="18" charset="0"/>
                <a:cs typeface="Times New Roman" panose="02020603050405020304" pitchFamily="18" charset="0"/>
              </a:rPr>
              <a:t>for real-time updates.</a:t>
            </a:r>
          </a:p>
          <a:p>
            <a:pPr marL="285750" indent="-28575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Enhanced </a:t>
            </a:r>
            <a:r>
              <a:rPr lang="en-US" sz="2000" b="1" dirty="0">
                <a:latin typeface="Times New Roman" panose="02020603050405020304" pitchFamily="18" charset="0"/>
                <a:cs typeface="Times New Roman" panose="02020603050405020304" pitchFamily="18" charset="0"/>
              </a:rPr>
              <a:t>debugging and problem-solving skills </a:t>
            </a:r>
            <a:r>
              <a:rPr lang="en-US" sz="2000" dirty="0">
                <a:latin typeface="Times New Roman" panose="02020603050405020304" pitchFamily="18" charset="0"/>
                <a:cs typeface="Times New Roman" panose="02020603050405020304" pitchFamily="18" charset="0"/>
              </a:rPr>
              <a:t>in real-world scenarios.</a:t>
            </a:r>
            <a:endParaRPr lang="en-IN" sz="2000" dirty="0"/>
          </a:p>
        </p:txBody>
      </p:sp>
      <p:sp>
        <p:nvSpPr>
          <p:cNvPr id="11" name="TextBox 10">
            <a:extLst>
              <a:ext uri="{FF2B5EF4-FFF2-40B4-BE49-F238E27FC236}">
                <a16:creationId xmlns:a16="http://schemas.microsoft.com/office/drawing/2014/main" id="{4CCF612F-BED5-32C7-105C-E809C4C76331}"/>
              </a:ext>
            </a:extLst>
          </p:cNvPr>
          <p:cNvSpPr txBox="1"/>
          <p:nvPr/>
        </p:nvSpPr>
        <p:spPr>
          <a:xfrm>
            <a:off x="2236333" y="357680"/>
            <a:ext cx="8368790" cy="707886"/>
          </a:xfrm>
          <a:prstGeom prst="rect">
            <a:avLst/>
          </a:prstGeom>
          <a:noFill/>
        </p:spPr>
        <p:txBody>
          <a:bodyPr wrap="square">
            <a:spAutoFit/>
          </a:bodyPr>
          <a:lstStyle/>
          <a:p>
            <a:r>
              <a:rPr lang="en-IN" sz="4000" b="1" dirty="0">
                <a:solidFill>
                  <a:schemeClr val="accent1"/>
                </a:solidFill>
                <a:latin typeface="Poppins" panose="00000500000000000000" pitchFamily="2" charset="0"/>
                <a:cs typeface="Poppins" panose="00000500000000000000" pitchFamily="2" charset="0"/>
              </a:rPr>
              <a:t>Project Learnings &amp; Outcomes</a:t>
            </a:r>
          </a:p>
        </p:txBody>
      </p:sp>
      <p:grpSp>
        <p:nvGrpSpPr>
          <p:cNvPr id="14" name="Group 13">
            <a:extLst>
              <a:ext uri="{FF2B5EF4-FFF2-40B4-BE49-F238E27FC236}">
                <a16:creationId xmlns:a16="http://schemas.microsoft.com/office/drawing/2014/main" id="{5DB9B7FF-DDF8-DB52-874F-C3F364F6C748}"/>
              </a:ext>
            </a:extLst>
          </p:cNvPr>
          <p:cNvGrpSpPr/>
          <p:nvPr/>
        </p:nvGrpSpPr>
        <p:grpSpPr>
          <a:xfrm>
            <a:off x="711652" y="4354287"/>
            <a:ext cx="4381499" cy="2314399"/>
            <a:chOff x="3703071" y="4491213"/>
            <a:chExt cx="4381499" cy="2501182"/>
          </a:xfrm>
        </p:grpSpPr>
        <p:sp>
          <p:nvSpPr>
            <p:cNvPr id="15" name="TextBox 14">
              <a:extLst>
                <a:ext uri="{FF2B5EF4-FFF2-40B4-BE49-F238E27FC236}">
                  <a16:creationId xmlns:a16="http://schemas.microsoft.com/office/drawing/2014/main" id="{078C49F3-D4F8-4A8E-0152-7E76A23C0C31}"/>
                </a:ext>
              </a:extLst>
            </p:cNvPr>
            <p:cNvSpPr txBox="1"/>
            <p:nvPr/>
          </p:nvSpPr>
          <p:spPr>
            <a:xfrm>
              <a:off x="3703071" y="6626518"/>
              <a:ext cx="4381499" cy="365877"/>
            </a:xfrm>
            <a:prstGeom prst="rect">
              <a:avLst/>
            </a:prstGeom>
            <a:noFill/>
          </p:spPr>
          <p:txBody>
            <a:bodyPr wrap="square" rtlCol="0">
              <a:spAutoFit/>
            </a:bodyPr>
            <a:lstStyle/>
            <a:p>
              <a:endParaRPr lang="en-US" sz="1600" dirty="0">
                <a:solidFill>
                  <a:srgbClr val="1B134C"/>
                </a:solidFill>
                <a:latin typeface="Poppins" panose="00000500000000000000" pitchFamily="2" charset="0"/>
                <a:cs typeface="Poppins" panose="00000500000000000000" pitchFamily="2" charset="0"/>
              </a:endParaRPr>
            </a:p>
          </p:txBody>
        </p:sp>
        <p:cxnSp>
          <p:nvCxnSpPr>
            <p:cNvPr id="17" name="Straight Connector 16">
              <a:extLst>
                <a:ext uri="{FF2B5EF4-FFF2-40B4-BE49-F238E27FC236}">
                  <a16:creationId xmlns:a16="http://schemas.microsoft.com/office/drawing/2014/main" id="{98BAF9AF-6CE8-5A30-5D5A-8F6F77C88F7F}"/>
                </a:ext>
              </a:extLst>
            </p:cNvPr>
            <p:cNvCxnSpPr/>
            <p:nvPr/>
          </p:nvCxnSpPr>
          <p:spPr>
            <a:xfrm>
              <a:off x="6957900" y="4491213"/>
              <a:ext cx="0" cy="388987"/>
            </a:xfrm>
            <a:prstGeom prst="line">
              <a:avLst/>
            </a:prstGeom>
          </p:spPr>
          <p:style>
            <a:lnRef idx="3">
              <a:schemeClr val="dk1"/>
            </a:lnRef>
            <a:fillRef idx="0">
              <a:schemeClr val="dk1"/>
            </a:fillRef>
            <a:effectRef idx="2">
              <a:schemeClr val="dk1"/>
            </a:effectRef>
            <a:fontRef idx="minor">
              <a:schemeClr val="tx1"/>
            </a:fontRef>
          </p:style>
        </p:cxnSp>
      </p:grpSp>
      <p:pic>
        <p:nvPicPr>
          <p:cNvPr id="18" name="Picture 17">
            <a:extLst>
              <a:ext uri="{FF2B5EF4-FFF2-40B4-BE49-F238E27FC236}">
                <a16:creationId xmlns:a16="http://schemas.microsoft.com/office/drawing/2014/main" id="{DB9664DC-93F5-B0AC-B1FE-DBDE06A26160}"/>
              </a:ext>
            </a:extLst>
          </p:cNvPr>
          <p:cNvPicPr>
            <a:picLocks noChangeAspect="1"/>
          </p:cNvPicPr>
          <p:nvPr/>
        </p:nvPicPr>
        <p:blipFill>
          <a:blip r:embed="rId2"/>
          <a:stretch>
            <a:fillRect/>
          </a:stretch>
        </p:blipFill>
        <p:spPr>
          <a:xfrm>
            <a:off x="457693" y="6252174"/>
            <a:ext cx="4889416" cy="445047"/>
          </a:xfrm>
          <a:prstGeom prst="rect">
            <a:avLst/>
          </a:prstGeom>
        </p:spPr>
      </p:pic>
      <p:sp>
        <p:nvSpPr>
          <p:cNvPr id="3" name="Flowchart: Connector 2">
            <a:extLst>
              <a:ext uri="{FF2B5EF4-FFF2-40B4-BE49-F238E27FC236}">
                <a16:creationId xmlns:a16="http://schemas.microsoft.com/office/drawing/2014/main" id="{F525172D-C48E-BE7F-9A6F-F8CB445FD13C}"/>
              </a:ext>
            </a:extLst>
          </p:cNvPr>
          <p:cNvSpPr/>
          <p:nvPr/>
        </p:nvSpPr>
        <p:spPr>
          <a:xfrm>
            <a:off x="10136041" y="5199407"/>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D9DFFF30-77D9-A7A4-AABF-32D145DC2E61}"/>
              </a:ext>
            </a:extLst>
          </p:cNvPr>
          <p:cNvSpPr/>
          <p:nvPr/>
        </p:nvSpPr>
        <p:spPr>
          <a:xfrm>
            <a:off x="10429137" y="708938"/>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67E12DC8-FF7B-13D1-2E79-A3C5EC1321DB}"/>
              </a:ext>
            </a:extLst>
          </p:cNvPr>
          <p:cNvSpPr/>
          <p:nvPr/>
        </p:nvSpPr>
        <p:spPr>
          <a:xfrm>
            <a:off x="3218429" y="6344370"/>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Connector 6">
            <a:extLst>
              <a:ext uri="{FF2B5EF4-FFF2-40B4-BE49-F238E27FC236}">
                <a16:creationId xmlns:a16="http://schemas.microsoft.com/office/drawing/2014/main" id="{E0A25016-42BD-DF3B-3CAB-6A49AC5FE820}"/>
              </a:ext>
            </a:extLst>
          </p:cNvPr>
          <p:cNvSpPr/>
          <p:nvPr/>
        </p:nvSpPr>
        <p:spPr>
          <a:xfrm>
            <a:off x="704835" y="247534"/>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24551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A5541-6C44-FB01-D7B9-0810FBE0E22F}"/>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9B793613-19EA-CF8E-1D51-E8711124B3A6}"/>
              </a:ext>
            </a:extLst>
          </p:cNvPr>
          <p:cNvGrpSpPr/>
          <p:nvPr/>
        </p:nvGrpSpPr>
        <p:grpSpPr>
          <a:xfrm>
            <a:off x="507328" y="6344370"/>
            <a:ext cx="4886323" cy="388987"/>
            <a:chOff x="618333" y="6026099"/>
            <a:chExt cx="4886323" cy="388987"/>
          </a:xfrm>
        </p:grpSpPr>
        <p:sp>
          <p:nvSpPr>
            <p:cNvPr id="6" name="TextBox 5">
              <a:extLst>
                <a:ext uri="{FF2B5EF4-FFF2-40B4-BE49-F238E27FC236}">
                  <a16:creationId xmlns:a16="http://schemas.microsoft.com/office/drawing/2014/main" id="{B4FBC893-26FB-76AA-4F09-234417D2B726}"/>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8" name="Graphic 7">
              <a:extLst>
                <a:ext uri="{FF2B5EF4-FFF2-40B4-BE49-F238E27FC236}">
                  <a16:creationId xmlns:a16="http://schemas.microsoft.com/office/drawing/2014/main" id="{DD603D28-4334-A923-6055-27A1E37045F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8333" y="6026099"/>
              <a:ext cx="353218" cy="388987"/>
            </a:xfrm>
            <a:prstGeom prst="rect">
              <a:avLst/>
            </a:prstGeom>
          </p:spPr>
        </p:pic>
        <p:cxnSp>
          <p:nvCxnSpPr>
            <p:cNvPr id="10" name="Straight Connector 9">
              <a:extLst>
                <a:ext uri="{FF2B5EF4-FFF2-40B4-BE49-F238E27FC236}">
                  <a16:creationId xmlns:a16="http://schemas.microsoft.com/office/drawing/2014/main" id="{3B104BF1-248D-9948-195A-3CBCB760AE26}"/>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12" name="TextBox 11">
            <a:extLst>
              <a:ext uri="{FF2B5EF4-FFF2-40B4-BE49-F238E27FC236}">
                <a16:creationId xmlns:a16="http://schemas.microsoft.com/office/drawing/2014/main" id="{0BADC659-E1DB-AEE0-F391-6D8BD5F8EAF7}"/>
              </a:ext>
            </a:extLst>
          </p:cNvPr>
          <p:cNvSpPr txBox="1"/>
          <p:nvPr/>
        </p:nvSpPr>
        <p:spPr>
          <a:xfrm>
            <a:off x="556428" y="683031"/>
            <a:ext cx="6150762" cy="5632311"/>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Payment Gateway Integration </a:t>
            </a:r>
            <a:r>
              <a:rPr lang="en-US" sz="2000" dirty="0">
                <a:solidFill>
                  <a:srgbClr val="1B134C"/>
                </a:solidFill>
                <a:latin typeface="Times New Roman" panose="02020603050405020304" pitchFamily="18" charset="0"/>
                <a:cs typeface="Times New Roman" panose="02020603050405020304" pitchFamily="18" charset="0"/>
              </a:rPr>
              <a:t>– Enable secure online payments to make ticket booking seamless for users.</a:t>
            </a:r>
          </a:p>
          <a:p>
            <a:pPr marL="285750" indent="-285750">
              <a:buFont typeface="Arial" panose="020B0604020202020204" pitchFamily="34" charset="0"/>
              <a:buChar char="•"/>
            </a:pPr>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Multi-location Events &amp; Ticket Categories </a:t>
            </a:r>
            <a:r>
              <a:rPr lang="en-US" sz="2000" dirty="0">
                <a:solidFill>
                  <a:srgbClr val="1B134C"/>
                </a:solidFill>
                <a:latin typeface="Times New Roman" panose="02020603050405020304" pitchFamily="18" charset="0"/>
                <a:cs typeface="Times New Roman" panose="02020603050405020304" pitchFamily="18" charset="0"/>
              </a:rPr>
              <a:t>– Support events across multiple venues with different ticket types and pricing.</a:t>
            </a:r>
          </a:p>
          <a:p>
            <a:pPr marL="285750" indent="-285750">
              <a:buFont typeface="Arial" panose="020B0604020202020204" pitchFamily="34" charset="0"/>
              <a:buChar char="•"/>
            </a:pPr>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Real-time Notifications </a:t>
            </a:r>
            <a:r>
              <a:rPr lang="en-US" sz="2000" dirty="0">
                <a:solidFill>
                  <a:srgbClr val="1B134C"/>
                </a:solidFill>
                <a:latin typeface="Times New Roman" panose="02020603050405020304" pitchFamily="18" charset="0"/>
                <a:cs typeface="Times New Roman" panose="02020603050405020304" pitchFamily="18" charset="0"/>
              </a:rPr>
              <a:t>– Send instant alerts to users about event updates, cancellations, or new event launches.</a:t>
            </a:r>
          </a:p>
          <a:p>
            <a:pPr marL="285750" indent="-285750">
              <a:buFont typeface="Arial" panose="020B0604020202020204" pitchFamily="34" charset="0"/>
              <a:buChar char="•"/>
            </a:pPr>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Mobile App Interface</a:t>
            </a:r>
            <a:r>
              <a:rPr lang="en-US" sz="2000" dirty="0">
                <a:solidFill>
                  <a:srgbClr val="1B134C"/>
                </a:solidFill>
                <a:latin typeface="Times New Roman" panose="02020603050405020304" pitchFamily="18" charset="0"/>
                <a:cs typeface="Times New Roman" panose="02020603050405020304" pitchFamily="18" charset="0"/>
              </a:rPr>
              <a:t> – Develop a mobile application for iOS and Android to provide users with on-the-go access.</a:t>
            </a:r>
          </a:p>
          <a:p>
            <a:pPr marL="285750" indent="-285750">
              <a:buFont typeface="Arial" panose="020B0604020202020204" pitchFamily="34" charset="0"/>
              <a:buChar char="•"/>
            </a:pPr>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Analytics Dashboard for Admins </a:t>
            </a:r>
            <a:r>
              <a:rPr lang="en-US" sz="2000" dirty="0">
                <a:solidFill>
                  <a:srgbClr val="1B134C"/>
                </a:solidFill>
                <a:latin typeface="Times New Roman" panose="02020603050405020304" pitchFamily="18" charset="0"/>
                <a:cs typeface="Times New Roman" panose="02020603050405020304" pitchFamily="18" charset="0"/>
              </a:rPr>
              <a:t>– Implement dashboards to track ticket sales, user engagement, and event performance for better decision-making.</a:t>
            </a:r>
          </a:p>
        </p:txBody>
      </p:sp>
      <p:sp>
        <p:nvSpPr>
          <p:cNvPr id="14" name="TextBox 13">
            <a:extLst>
              <a:ext uri="{FF2B5EF4-FFF2-40B4-BE49-F238E27FC236}">
                <a16:creationId xmlns:a16="http://schemas.microsoft.com/office/drawing/2014/main" id="{08F6CD6C-8E42-9E8B-3F89-E39A72C76835}"/>
              </a:ext>
            </a:extLst>
          </p:cNvPr>
          <p:cNvSpPr txBox="1"/>
          <p:nvPr/>
        </p:nvSpPr>
        <p:spPr>
          <a:xfrm>
            <a:off x="2938952" y="191846"/>
            <a:ext cx="6314095" cy="605807"/>
          </a:xfrm>
          <a:prstGeom prst="rect">
            <a:avLst/>
          </a:prstGeom>
          <a:noFill/>
        </p:spPr>
        <p:txBody>
          <a:bodyPr wrap="square" rtlCol="0">
            <a:spAutoFit/>
          </a:bodyPr>
          <a:lstStyle/>
          <a:p>
            <a:pPr algn="ctr">
              <a:lnSpc>
                <a:spcPct val="70000"/>
              </a:lnSpc>
            </a:pPr>
            <a:r>
              <a:rPr lang="en-US" sz="4400" b="1" spc="-300" dirty="0">
                <a:solidFill>
                  <a:schemeClr val="accent1"/>
                </a:solidFill>
                <a:latin typeface="Poppins" panose="00000500000000000000" pitchFamily="2" charset="0"/>
                <a:cs typeface="Poppins" panose="00000500000000000000" pitchFamily="2" charset="0"/>
              </a:rPr>
              <a:t>Future</a:t>
            </a:r>
            <a:r>
              <a:rPr lang="en-US" sz="4400" b="1" spc="-300" dirty="0">
                <a:solidFill>
                  <a:srgbClr val="1B134C"/>
                </a:solidFill>
                <a:latin typeface="Poppins" panose="00000500000000000000" pitchFamily="2" charset="0"/>
                <a:cs typeface="Poppins" panose="00000500000000000000" pitchFamily="2" charset="0"/>
              </a:rPr>
              <a:t> </a:t>
            </a:r>
            <a:r>
              <a:rPr lang="en-US" sz="4400" b="1" spc="-300" dirty="0">
                <a:solidFill>
                  <a:schemeClr val="accent1"/>
                </a:solidFill>
                <a:latin typeface="Poppins" panose="00000500000000000000" pitchFamily="2" charset="0"/>
                <a:cs typeface="Poppins" panose="00000500000000000000" pitchFamily="2" charset="0"/>
              </a:rPr>
              <a:t>enhancements</a:t>
            </a:r>
            <a:r>
              <a:rPr lang="en-US" sz="4400" b="1" spc="-300" dirty="0">
                <a:solidFill>
                  <a:srgbClr val="1B134C"/>
                </a:solidFill>
                <a:latin typeface="Poppins" panose="00000500000000000000" pitchFamily="2" charset="0"/>
                <a:cs typeface="Poppins" panose="00000500000000000000" pitchFamily="2" charset="0"/>
              </a:rPr>
              <a:t> </a:t>
            </a:r>
          </a:p>
        </p:txBody>
      </p:sp>
      <p:pic>
        <p:nvPicPr>
          <p:cNvPr id="2" name="Picture 1">
            <a:extLst>
              <a:ext uri="{FF2B5EF4-FFF2-40B4-BE49-F238E27FC236}">
                <a16:creationId xmlns:a16="http://schemas.microsoft.com/office/drawing/2014/main" id="{E221FABC-B64C-D81D-A709-11A788163D88}"/>
              </a:ext>
            </a:extLst>
          </p:cNvPr>
          <p:cNvPicPr>
            <a:picLocks noChangeAspect="1"/>
          </p:cNvPicPr>
          <p:nvPr/>
        </p:nvPicPr>
        <p:blipFill>
          <a:blip r:embed="rId4"/>
          <a:stretch>
            <a:fillRect/>
          </a:stretch>
        </p:blipFill>
        <p:spPr>
          <a:xfrm>
            <a:off x="8562609" y="903514"/>
            <a:ext cx="3028950" cy="5156833"/>
          </a:xfrm>
          <a:prstGeom prst="rect">
            <a:avLst/>
          </a:prstGeom>
        </p:spPr>
      </p:pic>
      <p:sp>
        <p:nvSpPr>
          <p:cNvPr id="17" name="Rectangle 16">
            <a:extLst>
              <a:ext uri="{FF2B5EF4-FFF2-40B4-BE49-F238E27FC236}">
                <a16:creationId xmlns:a16="http://schemas.microsoft.com/office/drawing/2014/main" id="{89CD3B26-ED70-857A-0DB4-A0C9B76DE302}"/>
              </a:ext>
            </a:extLst>
          </p:cNvPr>
          <p:cNvSpPr/>
          <p:nvPr/>
        </p:nvSpPr>
        <p:spPr>
          <a:xfrm>
            <a:off x="10077084" y="4359985"/>
            <a:ext cx="2057400" cy="1943100"/>
          </a:xfrm>
          <a:prstGeom prst="rect">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B903D31-A7A3-4479-A4C2-9C8B18941155}"/>
              </a:ext>
            </a:extLst>
          </p:cNvPr>
          <p:cNvSpPr/>
          <p:nvPr/>
        </p:nvSpPr>
        <p:spPr>
          <a:xfrm>
            <a:off x="8207148" y="683031"/>
            <a:ext cx="542925" cy="1647826"/>
          </a:xfrm>
          <a:prstGeom prst="rect">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lowchart: Connector 2">
            <a:extLst>
              <a:ext uri="{FF2B5EF4-FFF2-40B4-BE49-F238E27FC236}">
                <a16:creationId xmlns:a16="http://schemas.microsoft.com/office/drawing/2014/main" id="{1FAF1C34-08FA-ADAB-891C-980C11AF9EE6}"/>
              </a:ext>
            </a:extLst>
          </p:cNvPr>
          <p:cNvSpPr/>
          <p:nvPr/>
        </p:nvSpPr>
        <p:spPr>
          <a:xfrm>
            <a:off x="7735921" y="5196455"/>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B6F616BF-64BB-D975-57B7-C537AC85FD1E}"/>
              </a:ext>
            </a:extLst>
          </p:cNvPr>
          <p:cNvSpPr/>
          <p:nvPr/>
        </p:nvSpPr>
        <p:spPr>
          <a:xfrm>
            <a:off x="10026090" y="278849"/>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9A8F3D50-796A-7489-6785-068EB010265B}"/>
              </a:ext>
            </a:extLst>
          </p:cNvPr>
          <p:cNvSpPr/>
          <p:nvPr/>
        </p:nvSpPr>
        <p:spPr>
          <a:xfrm>
            <a:off x="6657683" y="2479941"/>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Connector 6">
            <a:extLst>
              <a:ext uri="{FF2B5EF4-FFF2-40B4-BE49-F238E27FC236}">
                <a16:creationId xmlns:a16="http://schemas.microsoft.com/office/drawing/2014/main" id="{507032A1-EFF5-D134-82DB-6A01AC14C05F}"/>
              </a:ext>
            </a:extLst>
          </p:cNvPr>
          <p:cNvSpPr/>
          <p:nvPr/>
        </p:nvSpPr>
        <p:spPr>
          <a:xfrm>
            <a:off x="326535" y="3842388"/>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94423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A74E7-2712-AF11-649E-96EAC662A11E}"/>
            </a:ext>
          </a:extLst>
        </p:cNvPr>
        <p:cNvGrpSpPr/>
        <p:nvPr/>
      </p:nvGrpSpPr>
      <p:grpSpPr>
        <a:xfrm>
          <a:off x="0" y="0"/>
          <a:ext cx="0" cy="0"/>
          <a:chOff x="0" y="0"/>
          <a:chExt cx="0" cy="0"/>
        </a:xfrm>
      </p:grpSpPr>
      <p:pic>
        <p:nvPicPr>
          <p:cNvPr id="3" name="Picture 2" descr="A group of people raising their hands&#10;&#10;Description automatically generated">
            <a:extLst>
              <a:ext uri="{FF2B5EF4-FFF2-40B4-BE49-F238E27FC236}">
                <a16:creationId xmlns:a16="http://schemas.microsoft.com/office/drawing/2014/main" id="{DB1A0EA4-4FC7-019B-8FCA-1B005D05A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7150" y="623781"/>
            <a:ext cx="3705225" cy="5124450"/>
          </a:xfrm>
          <a:prstGeom prst="rect">
            <a:avLst/>
          </a:prstGeom>
        </p:spPr>
      </p:pic>
      <p:grpSp>
        <p:nvGrpSpPr>
          <p:cNvPr id="19" name="Group 18">
            <a:extLst>
              <a:ext uri="{FF2B5EF4-FFF2-40B4-BE49-F238E27FC236}">
                <a16:creationId xmlns:a16="http://schemas.microsoft.com/office/drawing/2014/main" id="{FB2FA5CC-81CF-816B-01B1-8A58125C589C}"/>
              </a:ext>
            </a:extLst>
          </p:cNvPr>
          <p:cNvGrpSpPr/>
          <p:nvPr/>
        </p:nvGrpSpPr>
        <p:grpSpPr>
          <a:xfrm>
            <a:off x="547576" y="6347299"/>
            <a:ext cx="4886323" cy="388987"/>
            <a:chOff x="618333" y="6026099"/>
            <a:chExt cx="4886323" cy="388987"/>
          </a:xfrm>
        </p:grpSpPr>
        <p:sp>
          <p:nvSpPr>
            <p:cNvPr id="6" name="TextBox 5">
              <a:extLst>
                <a:ext uri="{FF2B5EF4-FFF2-40B4-BE49-F238E27FC236}">
                  <a16:creationId xmlns:a16="http://schemas.microsoft.com/office/drawing/2014/main" id="{183AA66C-65A1-3A04-DEB9-0AC8D2ED9C7D}"/>
                </a:ext>
              </a:extLst>
            </p:cNvPr>
            <p:cNvSpPr txBox="1"/>
            <p:nvPr/>
          </p:nvSpPr>
          <p:spPr>
            <a:xfrm>
              <a:off x="1123157" y="6050614"/>
              <a:ext cx="4381499" cy="338554"/>
            </a:xfrm>
            <a:prstGeom prst="rect">
              <a:avLst/>
            </a:prstGeom>
            <a:noFill/>
          </p:spPr>
          <p:txBody>
            <a:bodyPr wrap="square" rtlCol="0">
              <a:spAutoFit/>
            </a:bodyPr>
            <a:lstStyle/>
            <a:p>
              <a:r>
                <a:rPr lang="en-US" sz="1600" dirty="0">
                  <a:solidFill>
                    <a:srgbClr val="1B134C"/>
                  </a:solidFill>
                  <a:latin typeface="Poppins" panose="00000500000000000000" pitchFamily="2" charset="0"/>
                  <a:cs typeface="Poppins" panose="00000500000000000000" pitchFamily="2" charset="0"/>
                </a:rPr>
                <a:t>PPT Deck Name</a:t>
              </a:r>
            </a:p>
          </p:txBody>
        </p:sp>
        <p:pic>
          <p:nvPicPr>
            <p:cNvPr id="8" name="Graphic 7">
              <a:extLst>
                <a:ext uri="{FF2B5EF4-FFF2-40B4-BE49-F238E27FC236}">
                  <a16:creationId xmlns:a16="http://schemas.microsoft.com/office/drawing/2014/main" id="{3DF1A31D-6E77-1B66-2867-798EA904A8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8333" y="6026099"/>
              <a:ext cx="353218" cy="388987"/>
            </a:xfrm>
            <a:prstGeom prst="rect">
              <a:avLst/>
            </a:prstGeom>
          </p:spPr>
        </p:pic>
        <p:cxnSp>
          <p:nvCxnSpPr>
            <p:cNvPr id="10" name="Straight Connector 9">
              <a:extLst>
                <a:ext uri="{FF2B5EF4-FFF2-40B4-BE49-F238E27FC236}">
                  <a16:creationId xmlns:a16="http://schemas.microsoft.com/office/drawing/2014/main" id="{3C33837E-3D3B-916C-290C-99099EB92E69}"/>
                </a:ext>
              </a:extLst>
            </p:cNvPr>
            <p:cNvCxnSpPr/>
            <p:nvPr/>
          </p:nvCxnSpPr>
          <p:spPr>
            <a:xfrm>
              <a:off x="1123157" y="6026099"/>
              <a:ext cx="0" cy="388987"/>
            </a:xfrm>
            <a:prstGeom prst="line">
              <a:avLst/>
            </a:prstGeom>
          </p:spPr>
          <p:style>
            <a:lnRef idx="3">
              <a:schemeClr val="dk1"/>
            </a:lnRef>
            <a:fillRef idx="0">
              <a:schemeClr val="dk1"/>
            </a:fillRef>
            <a:effectRef idx="2">
              <a:schemeClr val="dk1"/>
            </a:effectRef>
            <a:fontRef idx="minor">
              <a:schemeClr val="tx1"/>
            </a:fontRef>
          </p:style>
        </p:cxnSp>
      </p:grpSp>
      <p:sp>
        <p:nvSpPr>
          <p:cNvPr id="12" name="TextBox 11">
            <a:extLst>
              <a:ext uri="{FF2B5EF4-FFF2-40B4-BE49-F238E27FC236}">
                <a16:creationId xmlns:a16="http://schemas.microsoft.com/office/drawing/2014/main" id="{04DA8AA5-7E69-9BA9-8FA2-C05789CE6BB3}"/>
              </a:ext>
            </a:extLst>
          </p:cNvPr>
          <p:cNvSpPr txBox="1"/>
          <p:nvPr/>
        </p:nvSpPr>
        <p:spPr>
          <a:xfrm>
            <a:off x="732633" y="922014"/>
            <a:ext cx="6150762" cy="5016758"/>
          </a:xfrm>
          <a:prstGeom prst="rect">
            <a:avLst/>
          </a:prstGeom>
          <a:noFill/>
        </p:spPr>
        <p:txBody>
          <a:bodyPr wrap="square" rtlCol="0">
            <a:spAutoFit/>
          </a:bodyPr>
          <a:lstStyle/>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Successful Implementation:</a:t>
            </a:r>
            <a:r>
              <a:rPr lang="en-US" sz="2000" dirty="0">
                <a:solidFill>
                  <a:srgbClr val="1B134C"/>
                </a:solidFill>
                <a:latin typeface="Times New Roman" panose="02020603050405020304" pitchFamily="18" charset="0"/>
                <a:cs typeface="Times New Roman" panose="02020603050405020304" pitchFamily="18" charset="0"/>
              </a:rPr>
              <a:t> Developed a fully functional Event Ticket Booking System from scratch.</a:t>
            </a:r>
          </a:p>
          <a:p>
            <a:pPr marL="285750" indent="-285750">
              <a:buFont typeface="Arial" panose="020B0604020202020204" pitchFamily="34" charset="0"/>
              <a:buChar char="•"/>
            </a:pPr>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User Convenience: </a:t>
            </a:r>
            <a:r>
              <a:rPr lang="en-US" sz="2000" dirty="0">
                <a:solidFill>
                  <a:srgbClr val="1B134C"/>
                </a:solidFill>
                <a:latin typeface="Times New Roman" panose="02020603050405020304" pitchFamily="18" charset="0"/>
                <a:cs typeface="Times New Roman" panose="02020603050405020304" pitchFamily="18" charset="0"/>
              </a:rPr>
              <a:t>Simplified event discovery, booking, and management for users.</a:t>
            </a:r>
          </a:p>
          <a:p>
            <a:pPr marL="285750" indent="-285750">
              <a:buFont typeface="Arial" panose="020B0604020202020204" pitchFamily="34" charset="0"/>
              <a:buChar char="•"/>
            </a:pPr>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Approve ,Reject(admin) and Cancel(user) of bookings: </a:t>
            </a:r>
            <a:r>
              <a:rPr lang="en-US" sz="2000" dirty="0">
                <a:solidFill>
                  <a:srgbClr val="1B134C"/>
                </a:solidFill>
                <a:latin typeface="Times New Roman" panose="02020603050405020304" pitchFamily="18" charset="0"/>
                <a:cs typeface="Times New Roman" panose="02020603050405020304" pitchFamily="18" charset="0"/>
              </a:rPr>
              <a:t>Successfully</a:t>
            </a:r>
            <a:r>
              <a:rPr lang="en-US" sz="2000" b="1" dirty="0">
                <a:solidFill>
                  <a:srgbClr val="1B134C"/>
                </a:solidFill>
                <a:latin typeface="Times New Roman" panose="02020603050405020304" pitchFamily="18" charset="0"/>
                <a:cs typeface="Times New Roman" panose="02020603050405020304" pitchFamily="18" charset="0"/>
              </a:rPr>
              <a:t> </a:t>
            </a:r>
            <a:r>
              <a:rPr lang="en-US" sz="2000" dirty="0">
                <a:solidFill>
                  <a:srgbClr val="1B134C"/>
                </a:solidFill>
                <a:latin typeface="Times New Roman" panose="02020603050405020304" pitchFamily="18" charset="0"/>
                <a:cs typeface="Times New Roman" panose="02020603050405020304" pitchFamily="18" charset="0"/>
              </a:rPr>
              <a:t>Seats </a:t>
            </a:r>
            <a:r>
              <a:rPr lang="en-US" sz="2000" dirty="0" err="1">
                <a:solidFill>
                  <a:srgbClr val="1B134C"/>
                </a:solidFill>
                <a:latin typeface="Times New Roman" panose="02020603050405020304" pitchFamily="18" charset="0"/>
                <a:cs typeface="Times New Roman" panose="02020603050405020304" pitchFamily="18" charset="0"/>
              </a:rPr>
              <a:t>roolback</a:t>
            </a:r>
            <a:r>
              <a:rPr lang="en-US" sz="2000" dirty="0">
                <a:solidFill>
                  <a:srgbClr val="1B134C"/>
                </a:solidFill>
                <a:latin typeface="Times New Roman" panose="02020603050405020304" pitchFamily="18" charset="0"/>
                <a:cs typeface="Times New Roman" panose="02020603050405020304" pitchFamily="18" charset="0"/>
              </a:rPr>
              <a:t> after the rejection and cancellation of seats bookings .</a:t>
            </a:r>
          </a:p>
          <a:p>
            <a:pPr marL="285750" indent="-285750">
              <a:buFont typeface="Arial" panose="020B0604020202020204" pitchFamily="34" charset="0"/>
              <a:buChar char="•"/>
            </a:pPr>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Enhanced Security: </a:t>
            </a:r>
            <a:r>
              <a:rPr lang="en-US" sz="2000" dirty="0">
                <a:solidFill>
                  <a:srgbClr val="1B134C"/>
                </a:solidFill>
                <a:latin typeface="Times New Roman" panose="02020603050405020304" pitchFamily="18" charset="0"/>
                <a:cs typeface="Times New Roman" panose="02020603050405020304" pitchFamily="18" charset="0"/>
              </a:rPr>
              <a:t>Integrated role-based JWT authentication for secure access control.</a:t>
            </a:r>
          </a:p>
          <a:p>
            <a:pPr marL="285750" indent="-285750">
              <a:buFont typeface="Arial" panose="020B0604020202020204" pitchFamily="34" charset="0"/>
              <a:buChar char="•"/>
            </a:pPr>
            <a:endParaRPr lang="en-US" sz="2000" dirty="0">
              <a:solidFill>
                <a:srgbClr val="1B134C"/>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b="1" dirty="0">
                <a:solidFill>
                  <a:srgbClr val="1B134C"/>
                </a:solidFill>
                <a:latin typeface="Times New Roman" panose="02020603050405020304" pitchFamily="18" charset="0"/>
                <a:cs typeface="Times New Roman" panose="02020603050405020304" pitchFamily="18" charset="0"/>
              </a:rPr>
              <a:t>Technical Growth: </a:t>
            </a:r>
            <a:r>
              <a:rPr lang="en-US" sz="2000" dirty="0">
                <a:solidFill>
                  <a:srgbClr val="1B134C"/>
                </a:solidFill>
                <a:latin typeface="Times New Roman" panose="02020603050405020304" pitchFamily="18" charset="0"/>
                <a:cs typeface="Times New Roman" panose="02020603050405020304" pitchFamily="18" charset="0"/>
              </a:rPr>
              <a:t>Gained hands-on experience with </a:t>
            </a:r>
            <a:r>
              <a:rPr lang="en-US" sz="2000" dirty="0" err="1">
                <a:solidFill>
                  <a:srgbClr val="1B134C"/>
                </a:solidFill>
                <a:latin typeface="Times New Roman" panose="02020603050405020304" pitchFamily="18" charset="0"/>
                <a:cs typeface="Times New Roman" panose="02020603050405020304" pitchFamily="18" charset="0"/>
              </a:rPr>
              <a:t>FastAPI</a:t>
            </a:r>
            <a:r>
              <a:rPr lang="en-US" sz="2000" dirty="0">
                <a:solidFill>
                  <a:srgbClr val="1B134C"/>
                </a:solidFill>
                <a:latin typeface="Times New Roman" panose="02020603050405020304" pitchFamily="18" charset="0"/>
                <a:cs typeface="Times New Roman" panose="02020603050405020304" pitchFamily="18" charset="0"/>
              </a:rPr>
              <a:t>, MongoDB, async operations, and scalable backend design.</a:t>
            </a:r>
          </a:p>
        </p:txBody>
      </p:sp>
      <p:sp>
        <p:nvSpPr>
          <p:cNvPr id="14" name="TextBox 13">
            <a:extLst>
              <a:ext uri="{FF2B5EF4-FFF2-40B4-BE49-F238E27FC236}">
                <a16:creationId xmlns:a16="http://schemas.microsoft.com/office/drawing/2014/main" id="{744E2AC4-6A25-B371-C9F4-542C588A20FD}"/>
              </a:ext>
            </a:extLst>
          </p:cNvPr>
          <p:cNvSpPr txBox="1"/>
          <p:nvPr/>
        </p:nvSpPr>
        <p:spPr>
          <a:xfrm>
            <a:off x="1085851" y="316207"/>
            <a:ext cx="6658767" cy="605807"/>
          </a:xfrm>
          <a:prstGeom prst="rect">
            <a:avLst/>
          </a:prstGeom>
          <a:noFill/>
        </p:spPr>
        <p:txBody>
          <a:bodyPr wrap="square" rtlCol="0">
            <a:spAutoFit/>
          </a:bodyPr>
          <a:lstStyle/>
          <a:p>
            <a:pPr>
              <a:lnSpc>
                <a:spcPct val="70000"/>
              </a:lnSpc>
            </a:pPr>
            <a:r>
              <a:rPr lang="en-US" sz="4400" b="1" spc="-300" dirty="0">
                <a:solidFill>
                  <a:schemeClr val="accent1"/>
                </a:solidFill>
                <a:latin typeface="Poppins" panose="00000500000000000000" pitchFamily="2" charset="0"/>
                <a:cs typeface="Poppins" panose="00000500000000000000" pitchFamily="2" charset="0"/>
              </a:rPr>
              <a:t>Achievements &amp; Impact</a:t>
            </a:r>
          </a:p>
        </p:txBody>
      </p:sp>
      <p:sp>
        <p:nvSpPr>
          <p:cNvPr id="17" name="Rectangle 16">
            <a:extLst>
              <a:ext uri="{FF2B5EF4-FFF2-40B4-BE49-F238E27FC236}">
                <a16:creationId xmlns:a16="http://schemas.microsoft.com/office/drawing/2014/main" id="{408CD8CE-FCD8-1EDB-12A6-5152AA995A01}"/>
              </a:ext>
            </a:extLst>
          </p:cNvPr>
          <p:cNvSpPr/>
          <p:nvPr/>
        </p:nvSpPr>
        <p:spPr>
          <a:xfrm>
            <a:off x="9725025" y="4267826"/>
            <a:ext cx="2057400" cy="1943100"/>
          </a:xfrm>
          <a:prstGeom prst="rect">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7AD0D51-18EE-B1BB-0E0E-4E554B18945E}"/>
              </a:ext>
            </a:extLst>
          </p:cNvPr>
          <p:cNvSpPr/>
          <p:nvPr/>
        </p:nvSpPr>
        <p:spPr>
          <a:xfrm>
            <a:off x="7448550" y="316207"/>
            <a:ext cx="542925" cy="1647826"/>
          </a:xfrm>
          <a:prstGeom prst="rect">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lowchart: Connector 1">
            <a:extLst>
              <a:ext uri="{FF2B5EF4-FFF2-40B4-BE49-F238E27FC236}">
                <a16:creationId xmlns:a16="http://schemas.microsoft.com/office/drawing/2014/main" id="{7DB1EAD8-A758-85F2-0357-4BF4CD9E1B04}"/>
              </a:ext>
            </a:extLst>
          </p:cNvPr>
          <p:cNvSpPr/>
          <p:nvPr/>
        </p:nvSpPr>
        <p:spPr>
          <a:xfrm>
            <a:off x="10033818" y="6016647"/>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Connector 3">
            <a:extLst>
              <a:ext uri="{FF2B5EF4-FFF2-40B4-BE49-F238E27FC236}">
                <a16:creationId xmlns:a16="http://schemas.microsoft.com/office/drawing/2014/main" id="{5E21D31C-6756-1F0A-0FBB-1CCCFAFE5D22}"/>
              </a:ext>
            </a:extLst>
          </p:cNvPr>
          <p:cNvSpPr/>
          <p:nvPr/>
        </p:nvSpPr>
        <p:spPr>
          <a:xfrm>
            <a:off x="11350625" y="316207"/>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6B43892E-B718-E0CE-B3E1-FCC1E7162735}"/>
              </a:ext>
            </a:extLst>
          </p:cNvPr>
          <p:cNvSpPr/>
          <p:nvPr/>
        </p:nvSpPr>
        <p:spPr>
          <a:xfrm>
            <a:off x="3218429" y="6344370"/>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Connector 6">
            <a:extLst>
              <a:ext uri="{FF2B5EF4-FFF2-40B4-BE49-F238E27FC236}">
                <a16:creationId xmlns:a16="http://schemas.microsoft.com/office/drawing/2014/main" id="{12E3977E-8ED8-F04B-3A25-D88A23EC0403}"/>
              </a:ext>
            </a:extLst>
          </p:cNvPr>
          <p:cNvSpPr/>
          <p:nvPr/>
        </p:nvSpPr>
        <p:spPr>
          <a:xfrm>
            <a:off x="155176" y="4637046"/>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56958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E0683AC-A1B3-321F-8F0E-741536C36FDD}"/>
              </a:ext>
            </a:extLst>
          </p:cNvPr>
          <p:cNvSpPr>
            <a:spLocks noGrp="1" noChangeArrowheads="1"/>
          </p:cNvSpPr>
          <p:nvPr>
            <p:ph idx="1"/>
          </p:nvPr>
        </p:nvSpPr>
        <p:spPr bwMode="auto">
          <a:xfrm>
            <a:off x="573555" y="717765"/>
            <a:ext cx="11092543"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Secure, and Efficient: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streamlines the event booking process, ensuring fast and reliable ticket management with secure user access.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Simplified Management: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Both users and admins can easily manage bookings, events, and profiles, reducing manual effort and errors.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and Maintainable Architecture: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backend is designed to handle growing user traffic and future feature expansions without compromising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Practical Learning and Implementation: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demonstrates real-world backend development practices, including modular API design, asynchronous database operations, role-based authentication, and robust error handling.</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0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highlights key technical skills such as API development with </a:t>
            </a:r>
            <a:r>
              <a:rPr kumimoji="0" lang="en-US" altLang="en-US" sz="20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FastAPI</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asynchronous database operations, role-based authentication, and scalable backend design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9D18F924-8BF0-F15E-7211-6871D0858DB2}"/>
              </a:ext>
            </a:extLst>
          </p:cNvPr>
          <p:cNvPicPr>
            <a:picLocks noChangeAspect="1"/>
          </p:cNvPicPr>
          <p:nvPr/>
        </p:nvPicPr>
        <p:blipFill>
          <a:blip r:embed="rId2"/>
          <a:stretch>
            <a:fillRect/>
          </a:stretch>
        </p:blipFill>
        <p:spPr>
          <a:xfrm>
            <a:off x="573555" y="6146453"/>
            <a:ext cx="4889416" cy="445047"/>
          </a:xfrm>
          <a:prstGeom prst="rect">
            <a:avLst/>
          </a:prstGeom>
        </p:spPr>
      </p:pic>
      <p:sp>
        <p:nvSpPr>
          <p:cNvPr id="2" name="Title 1">
            <a:extLst>
              <a:ext uri="{FF2B5EF4-FFF2-40B4-BE49-F238E27FC236}">
                <a16:creationId xmlns:a16="http://schemas.microsoft.com/office/drawing/2014/main" id="{27C509B8-FED5-47E1-8254-A473F91DE413}"/>
              </a:ext>
            </a:extLst>
          </p:cNvPr>
          <p:cNvSpPr>
            <a:spLocks noGrp="1"/>
          </p:cNvSpPr>
          <p:nvPr>
            <p:ph type="title"/>
          </p:nvPr>
        </p:nvSpPr>
        <p:spPr>
          <a:xfrm>
            <a:off x="649755" y="179941"/>
            <a:ext cx="10515600" cy="531604"/>
          </a:xfrm>
        </p:spPr>
        <p:txBody>
          <a:bodyPr>
            <a:noAutofit/>
          </a:bodyPr>
          <a:lstStyle/>
          <a:p>
            <a:pPr algn="ctr"/>
            <a:r>
              <a:rPr lang="en-US" b="1" dirty="0">
                <a:solidFill>
                  <a:schemeClr val="accent1"/>
                </a:solidFill>
                <a:latin typeface="Poppins" panose="00000500000000000000" pitchFamily="2" charset="0"/>
                <a:cs typeface="Poppins" panose="00000500000000000000" pitchFamily="2" charset="0"/>
              </a:rPr>
              <a:t>Conclusion</a:t>
            </a:r>
            <a:endParaRPr lang="en-IN" b="1" dirty="0">
              <a:solidFill>
                <a:schemeClr val="accent1"/>
              </a:solidFill>
              <a:latin typeface="Poppins" panose="00000500000000000000" pitchFamily="2" charset="0"/>
              <a:cs typeface="Poppins" panose="00000500000000000000" pitchFamily="2" charset="0"/>
            </a:endParaRPr>
          </a:p>
        </p:txBody>
      </p:sp>
      <p:sp>
        <p:nvSpPr>
          <p:cNvPr id="3" name="Flowchart: Connector 2">
            <a:extLst>
              <a:ext uri="{FF2B5EF4-FFF2-40B4-BE49-F238E27FC236}">
                <a16:creationId xmlns:a16="http://schemas.microsoft.com/office/drawing/2014/main" id="{06E094EB-7F8B-132A-B745-6EC9B55C849A}"/>
              </a:ext>
            </a:extLst>
          </p:cNvPr>
          <p:cNvSpPr/>
          <p:nvPr/>
        </p:nvSpPr>
        <p:spPr>
          <a:xfrm>
            <a:off x="11234298" y="4434455"/>
            <a:ext cx="431800" cy="431800"/>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lowchart: Connector 4">
            <a:extLst>
              <a:ext uri="{FF2B5EF4-FFF2-40B4-BE49-F238E27FC236}">
                <a16:creationId xmlns:a16="http://schemas.microsoft.com/office/drawing/2014/main" id="{FE27E419-9247-8F21-FA3D-F7F32DD40AFA}"/>
              </a:ext>
            </a:extLst>
          </p:cNvPr>
          <p:cNvSpPr/>
          <p:nvPr/>
        </p:nvSpPr>
        <p:spPr>
          <a:xfrm>
            <a:off x="7767082" y="320694"/>
            <a:ext cx="431800" cy="431800"/>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0752F5AC-B3E5-DC2D-33EE-5FD0BCFC39D7}"/>
              </a:ext>
            </a:extLst>
          </p:cNvPr>
          <p:cNvSpPr/>
          <p:nvPr/>
        </p:nvSpPr>
        <p:spPr>
          <a:xfrm>
            <a:off x="3218429" y="6344370"/>
            <a:ext cx="279400" cy="208155"/>
          </a:xfrm>
          <a:prstGeom prst="flowChartConnector">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Flowchart: Connector 6">
            <a:extLst>
              <a:ext uri="{FF2B5EF4-FFF2-40B4-BE49-F238E27FC236}">
                <a16:creationId xmlns:a16="http://schemas.microsoft.com/office/drawing/2014/main" id="{162710FD-AE92-1277-7EBC-96158A97F672}"/>
              </a:ext>
            </a:extLst>
          </p:cNvPr>
          <p:cNvSpPr/>
          <p:nvPr/>
        </p:nvSpPr>
        <p:spPr>
          <a:xfrm>
            <a:off x="139885" y="1741446"/>
            <a:ext cx="229893" cy="229893"/>
          </a:xfrm>
          <a:prstGeom prst="flowChartConnector">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04304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688259-6D80-C4E7-7800-399FF0886C91}"/>
              </a:ext>
            </a:extLst>
          </p:cNvPr>
          <p:cNvSpPr txBox="1"/>
          <p:nvPr/>
        </p:nvSpPr>
        <p:spPr>
          <a:xfrm>
            <a:off x="2604691" y="2997728"/>
            <a:ext cx="6982617" cy="1212640"/>
          </a:xfrm>
          <a:prstGeom prst="rect">
            <a:avLst/>
          </a:prstGeom>
          <a:noFill/>
        </p:spPr>
        <p:txBody>
          <a:bodyPr wrap="square" rtlCol="0">
            <a:spAutoFit/>
          </a:bodyPr>
          <a:lstStyle/>
          <a:p>
            <a:pPr algn="ctr">
              <a:lnSpc>
                <a:spcPct val="70000"/>
              </a:lnSpc>
            </a:pPr>
            <a:r>
              <a:rPr lang="en-US" sz="9600" b="1" spc="-300" dirty="0">
                <a:solidFill>
                  <a:srgbClr val="1B134C"/>
                </a:solidFill>
                <a:latin typeface="Poppins" panose="00000500000000000000" pitchFamily="2" charset="0"/>
                <a:cs typeface="Poppins" panose="00000500000000000000" pitchFamily="2" charset="0"/>
              </a:rPr>
              <a:t>Thank You</a:t>
            </a:r>
          </a:p>
        </p:txBody>
      </p:sp>
      <p:sp>
        <p:nvSpPr>
          <p:cNvPr id="5" name="Rectangle 4">
            <a:extLst>
              <a:ext uri="{FF2B5EF4-FFF2-40B4-BE49-F238E27FC236}">
                <a16:creationId xmlns:a16="http://schemas.microsoft.com/office/drawing/2014/main" id="{E6E088B2-7839-7182-1F4C-0A026525B9D2}"/>
              </a:ext>
            </a:extLst>
          </p:cNvPr>
          <p:cNvSpPr/>
          <p:nvPr/>
        </p:nvSpPr>
        <p:spPr>
          <a:xfrm>
            <a:off x="10877550" y="4914900"/>
            <a:ext cx="1314450" cy="1943100"/>
          </a:xfrm>
          <a:prstGeom prst="rect">
            <a:avLst/>
          </a:prstGeom>
          <a:solidFill>
            <a:srgbClr val="F39E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D8B4B88-3803-7AB5-CEFC-EE256A8F840C}"/>
              </a:ext>
            </a:extLst>
          </p:cNvPr>
          <p:cNvSpPr/>
          <p:nvPr/>
        </p:nvSpPr>
        <p:spPr>
          <a:xfrm>
            <a:off x="0" y="0"/>
            <a:ext cx="542925" cy="1647826"/>
          </a:xfrm>
          <a:prstGeom prst="rect">
            <a:avLst/>
          </a:prstGeom>
          <a:solidFill>
            <a:srgbClr val="23AA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9482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3117</TotalTime>
  <Words>2454</Words>
  <Application>Microsoft Office PowerPoint</Application>
  <PresentationFormat>Widescreen</PresentationFormat>
  <Paragraphs>307</Paragraphs>
  <Slides>22</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Calibri Light</vt:lpstr>
      <vt:lpstr>Courier New</vt:lpstr>
      <vt:lpstr>Poppins</vt:lpstr>
      <vt:lpstr>Times New Roman</vt:lpstr>
      <vt:lpstr>Wingdings</vt:lpstr>
      <vt:lpstr>Office Theme</vt:lpstr>
      <vt:lpstr>PowerPoint Presentation</vt:lpstr>
      <vt:lpstr>Abstract</vt:lpstr>
      <vt:lpstr>Introduction</vt:lpstr>
      <vt:lpstr>Learning Journey</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API Endpoint Overview</vt:lpstr>
      <vt:lpstr>PowerPoint Presentation</vt:lpstr>
      <vt:lpstr> </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Aditya Nandanwar</dc:creator>
  <cp:lastModifiedBy>Vijay Sai Nunna</cp:lastModifiedBy>
  <cp:revision>135</cp:revision>
  <dcterms:created xsi:type="dcterms:W3CDTF">2025-08-25T08:51:55Z</dcterms:created>
  <dcterms:modified xsi:type="dcterms:W3CDTF">2025-09-12T10:17:29Z</dcterms:modified>
</cp:coreProperties>
</file>